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4" r:id="rId2"/>
    <p:sldId id="265" r:id="rId3"/>
    <p:sldId id="257" r:id="rId4"/>
    <p:sldId id="258" r:id="rId5"/>
    <p:sldId id="259" r:id="rId6"/>
    <p:sldId id="266" r:id="rId7"/>
    <p:sldId id="268" r:id="rId8"/>
    <p:sldId id="274" r:id="rId9"/>
    <p:sldId id="277" r:id="rId10"/>
    <p:sldId id="261" r:id="rId11"/>
    <p:sldId id="262" r:id="rId12"/>
    <p:sldId id="278" r:id="rId13"/>
    <p:sldId id="271" r:id="rId14"/>
    <p:sldId id="273" r:id="rId15"/>
    <p:sldId id="272" r:id="rId16"/>
    <p:sldId id="263" r:id="rId17"/>
    <p:sldId id="27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C6EF"/>
    <a:srgbClr val="9DBAED"/>
    <a:srgbClr val="FBC5F1"/>
    <a:srgbClr val="FE5AF2"/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3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2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1077-1DA6-C7FE-0174-0767417C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ADD76-90C7-CEB2-CC45-342D5C039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61941-682B-D86C-48F8-871B1A611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FD3A6-00C9-E305-A4BD-EA38FA5C6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50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2D63-59C7-4AA1-DBB7-15B220B0D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6952C-2728-72A0-11FD-AA80A56D1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C3CC8-68BE-C7F8-2348-76D8C7ED8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ADEB6-087D-0533-56C6-53947F585D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13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B9FB5-6BCC-593A-F2D1-03FCB43B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E46C1-7AAD-BA77-F77A-C165D2A00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056F5-4A01-3936-F74C-2997C4A3A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E56E-2D51-08F0-2A0B-8FDC0BBAF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01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7E0E-38E6-461B-E2C5-5CDCAB85D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B0076-4C39-B347-EDE6-CB39C79E1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D69FA-2B0F-9002-2BC0-FD86B6ABF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53210-7518-DFBC-DE07-0B874E144A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6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413A-9A14-2D2C-5245-B1EC429D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917BD-9C6E-E774-1B3A-1FDA5A796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FD08F-C845-F3D1-15DC-8E5B5352C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02BF9-38C8-E3F7-3F34-2D8F7434A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05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FBEE-70F1-71AA-CF98-6A8EBB00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42148-954E-31AB-7B87-667FAE6DE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19D84-B9D9-DFAD-5BF9-6BDB52AD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2D23D-6EEE-59BC-3AE5-244CF42ED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15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AABC-15DA-9184-BF6A-1A73105C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DDDC6-CF86-5630-BB9B-58107BE6B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D2E63-A7CC-67D2-46C3-A9EF89E40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4FFC-9B55-7498-F699-AEDEF4680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34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CAB62-D743-F80A-BCE6-92EC27F6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D5B3A-335B-702D-BDE3-EF67A3B62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33A92-0AAA-880F-0318-5EAF15CB1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517D3-0DD2-8DC8-2875-9D4C79FF5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45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FF63-9705-D6EB-8FB9-016EFD5C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4AACD-D551-82B2-46D6-DAC4E1DF3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E2A19-2AB2-3396-C713-E43577F2E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CF905-87CE-BF47-BB6A-E6EA8ADDC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34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07988-9A0A-6675-9E61-4BCD1CD8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212BC-9BE0-ECC9-86DD-6023A6447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01EF5-D156-31AB-E199-EC54A87E3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31B22-9EE7-7E6A-371F-BCE2DC57B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17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hWYUbvB7Zk8" TargetMode="External"/><Relationship Id="rId3" Type="http://schemas.openxmlformats.org/officeDocument/2006/relationships/image" Target="../media/image27.png"/><Relationship Id="rId7" Type="http://schemas.openxmlformats.org/officeDocument/2006/relationships/hyperlink" Target="https://www.youtube.com/watch?v=cyPaAkRfEBQ" TargetMode="External"/><Relationship Id="rId12" Type="http://schemas.openxmlformats.org/officeDocument/2006/relationships/hyperlink" Target="https://www.youtube.com/watch?v=mbUnwaSllT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xf65vxjNWdk" TargetMode="External"/><Relationship Id="rId11" Type="http://schemas.openxmlformats.org/officeDocument/2006/relationships/hyperlink" Target="https://www.youtube.com/watch?v=kw5GNtihCh0" TargetMode="External"/><Relationship Id="rId5" Type="http://schemas.openxmlformats.org/officeDocument/2006/relationships/image" Target="../media/image28.svg"/><Relationship Id="rId10" Type="http://schemas.openxmlformats.org/officeDocument/2006/relationships/hyperlink" Target="https://www.youtube.com/watch?v=pn5x1CamKVY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Qf2KZQrHlTI" TargetMode="External"/><Relationship Id="rId5" Type="http://schemas.openxmlformats.org/officeDocument/2006/relationships/image" Target="../media/image31.png"/><Relationship Id="rId4" Type="http://schemas.openxmlformats.org/officeDocument/2006/relationships/hyperlink" Target="https://www.youtube.com/watch?v=pn5x1CamKVY" TargetMode="External"/><Relationship Id="rId9" Type="http://schemas.openxmlformats.org/officeDocument/2006/relationships/hyperlink" Target="https://www.youtube.com/watch?v=6pbdTiT-Pc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copilot/ai-powered-suggestion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paths/copilot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en-us/training/browse/?products=github&amp;terms=copil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pic>
        <p:nvPicPr>
          <p:cNvPr id="2" name="Imagen 1" descr="GitHub Copilot está disponible con carácter general para todos los  desarrolladores - News Center Latinoamérica">
            <a:extLst>
              <a:ext uri="{FF2B5EF4-FFF2-40B4-BE49-F238E27FC236}">
                <a16:creationId xmlns:a16="http://schemas.microsoft.com/office/drawing/2014/main" id="{F967E042-5FF7-0AE6-3E3B-1BB45AC4AE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940" r="5709" b="-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sp>
        <p:nvSpPr>
          <p:cNvPr id="5" name="Text 20">
            <a:extLst>
              <a:ext uri="{FF2B5EF4-FFF2-40B4-BE49-F238E27FC236}">
                <a16:creationId xmlns:a16="http://schemas.microsoft.com/office/drawing/2014/main" id="{4A4F4D72-DD3B-55AD-15F3-A63B62216203}"/>
              </a:ext>
            </a:extLst>
          </p:cNvPr>
          <p:cNvSpPr/>
          <p:nvPr/>
        </p:nvSpPr>
        <p:spPr>
          <a:xfrm>
            <a:off x="129717" y="481186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• Fundamentos de Ingeniería de Software • Serrana Calvo, Leandro Del Valle y Lucía Sosa Viera</a:t>
            </a:r>
            <a:endParaRPr lang="es-419" sz="1100" noProof="0" dirty="0"/>
          </a:p>
        </p:txBody>
      </p:sp>
    </p:spTree>
    <p:extLst>
      <p:ext uri="{BB962C8B-B14F-4D97-AF65-F5344CB8AC3E}">
        <p14:creationId xmlns:p14="http://schemas.microsoft.com/office/powerpoint/2010/main" val="213729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494FC-1061-E0D6-DED7-6AC56E4C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4FDD5B-399B-3D37-FC02-F87B5D236C6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3B48FE-19AE-CA3D-16E4-95834138B81E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GITHUB COPILOT?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92A0702-FFD7-5E0D-B3B6-7D764E27C8AE}"/>
              </a:ext>
            </a:extLst>
          </p:cNvPr>
          <p:cNvSpPr/>
          <p:nvPr/>
        </p:nvSpPr>
        <p:spPr>
          <a:xfrm>
            <a:off x="365760" y="777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s-419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r>
              <a:rPr lang="es-419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419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s-419" sz="1600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D1D8605-D19A-5872-5B05-334BFBE1D588}"/>
              </a:ext>
            </a:extLst>
          </p:cNvPr>
          <p:cNvSpPr txBox="1"/>
          <p:nvPr/>
        </p:nvSpPr>
        <p:spPr>
          <a:xfrm>
            <a:off x="262624" y="1130647"/>
            <a:ext cx="8515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un compañero de programación. En la programación en pareja tradicional, dos personas trabajan juntas: una escribe el código y la otra lo revisa, sugiere o propone soluciones. GitHub </a:t>
            </a:r>
            <a:r>
              <a:rPr lang="es-419" sz="12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intenta desempeñar un rol similar, pero mediante inteligencia artificial.</a:t>
            </a:r>
            <a:endParaRPr lang="es-419" sz="1200" noProof="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D91F9C50-3A20-5BE3-EF4A-015131906674}"/>
              </a:ext>
            </a:extLst>
          </p:cNvPr>
          <p:cNvSpPr/>
          <p:nvPr/>
        </p:nvSpPr>
        <p:spPr>
          <a:xfrm>
            <a:off x="365760" y="1868418"/>
            <a:ext cx="8412480" cy="78972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algn="r"/>
            <a:endParaRPr lang="es-419" noProof="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729F42B7-29F5-FF0B-59EE-B4B4DB3EC121}"/>
              </a:ext>
            </a:extLst>
          </p:cNvPr>
          <p:cNvSpPr/>
          <p:nvPr/>
        </p:nvSpPr>
        <p:spPr>
          <a:xfrm>
            <a:off x="365760" y="1874520"/>
            <a:ext cx="45719" cy="7836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E2706AD-EF1F-6E20-1C14-B2F88296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4" y="1991885"/>
            <a:ext cx="382495" cy="382495"/>
          </a:xfrm>
          <a:prstGeom prst="rect">
            <a:avLst/>
          </a:prstGeom>
        </p:spPr>
      </p:pic>
      <p:sp>
        <p:nvSpPr>
          <p:cNvPr id="27" name="Text 2">
            <a:extLst>
              <a:ext uri="{FF2B5EF4-FFF2-40B4-BE49-F238E27FC236}">
                <a16:creationId xmlns:a16="http://schemas.microsoft.com/office/drawing/2014/main" id="{65DA50D7-E74B-174E-6DD6-DDD534051584}"/>
              </a:ext>
            </a:extLst>
          </p:cNvPr>
          <p:cNvSpPr/>
          <p:nvPr/>
        </p:nvSpPr>
        <p:spPr>
          <a:xfrm>
            <a:off x="845820" y="19293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remplaza al programador</a:t>
            </a:r>
            <a:endParaRPr lang="es-419" sz="1600" noProof="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174023C-13B7-6280-A524-7DB1E90C6E35}"/>
              </a:ext>
            </a:extLst>
          </p:cNvPr>
          <p:cNvSpPr txBox="1"/>
          <p:nvPr/>
        </p:nvSpPr>
        <p:spPr>
          <a:xfrm>
            <a:off x="757431" y="2209491"/>
            <a:ext cx="7770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acelerar el trabajo, pero no garantiza que el código sea correcto. La responsabilidad final sigue siendo humana.</a:t>
            </a:r>
            <a:endParaRPr lang="es-419" sz="1200" noProof="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0CED960-97F0-B408-6A8D-5832525536A6}"/>
              </a:ext>
            </a:extLst>
          </p:cNvPr>
          <p:cNvSpPr txBox="1"/>
          <p:nvPr/>
        </p:nvSpPr>
        <p:spPr>
          <a:xfrm>
            <a:off x="262624" y="2794025"/>
            <a:ext cx="7770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sigue siendo </a:t>
            </a:r>
            <a:r>
              <a:rPr lang="es-419" sz="1200" b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de:</a:t>
            </a:r>
            <a:endParaRPr lang="es-419" sz="1200" noProof="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1065CF48-779E-60DE-7B12-AB0B9863E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31" y="3359548"/>
            <a:ext cx="559273" cy="559273"/>
          </a:xfrm>
          <a:prstGeom prst="rect">
            <a:avLst/>
          </a:prstGeom>
        </p:spPr>
      </p:pic>
      <p:sp>
        <p:nvSpPr>
          <p:cNvPr id="32" name="Text 2">
            <a:extLst>
              <a:ext uri="{FF2B5EF4-FFF2-40B4-BE49-F238E27FC236}">
                <a16:creationId xmlns:a16="http://schemas.microsoft.com/office/drawing/2014/main" id="{A1255363-9D16-1719-EB9D-6800D6330E56}"/>
              </a:ext>
            </a:extLst>
          </p:cNvPr>
          <p:cNvSpPr/>
          <p:nvPr/>
        </p:nvSpPr>
        <p:spPr>
          <a:xfrm>
            <a:off x="213068" y="4082659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problema  </a:t>
            </a:r>
            <a:endParaRPr lang="es-419" sz="1400" noProof="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8E86870A-0DC8-BA9F-76E0-3577A280F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041" y="3369394"/>
            <a:ext cx="559273" cy="559273"/>
          </a:xfrm>
          <a:prstGeom prst="rect">
            <a:avLst/>
          </a:prstGeom>
        </p:spPr>
      </p:pic>
      <p:sp>
        <p:nvSpPr>
          <p:cNvPr id="37" name="Text 2">
            <a:extLst>
              <a:ext uri="{FF2B5EF4-FFF2-40B4-BE49-F238E27FC236}">
                <a16:creationId xmlns:a16="http://schemas.microsoft.com/office/drawing/2014/main" id="{F2F86645-FC0E-F21D-4B12-0566066C3F56}"/>
              </a:ext>
            </a:extLst>
          </p:cNvPr>
          <p:cNvSpPr/>
          <p:nvPr/>
        </p:nvSpPr>
        <p:spPr>
          <a:xfrm>
            <a:off x="1665475" y="4078832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qué solución aplicar  </a:t>
            </a:r>
            <a:endParaRPr lang="es-419" sz="1400" noProof="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E5CEB9BE-A453-E130-3921-4CE5BD76F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8262" y="3361611"/>
            <a:ext cx="559273" cy="559273"/>
          </a:xfrm>
          <a:prstGeom prst="rect">
            <a:avLst/>
          </a:prstGeom>
        </p:spPr>
      </p:pic>
      <p:sp>
        <p:nvSpPr>
          <p:cNvPr id="42" name="Text 2">
            <a:extLst>
              <a:ext uri="{FF2B5EF4-FFF2-40B4-BE49-F238E27FC236}">
                <a16:creationId xmlns:a16="http://schemas.microsoft.com/office/drawing/2014/main" id="{DB32418E-64A1-F842-1061-44EE8DF24E46}"/>
              </a:ext>
            </a:extLst>
          </p:cNvPr>
          <p:cNvSpPr/>
          <p:nvPr/>
        </p:nvSpPr>
        <p:spPr>
          <a:xfrm>
            <a:off x="3477910" y="4079529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si el código es correcto</a:t>
            </a:r>
            <a:endParaRPr lang="es-419" sz="1400" noProof="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A8F08303-87C9-7222-DE6D-13A9C7B587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9889" y="3365715"/>
            <a:ext cx="559273" cy="559273"/>
          </a:xfrm>
          <a:prstGeom prst="rect">
            <a:avLst/>
          </a:prstGeom>
        </p:spPr>
      </p:pic>
      <p:sp>
        <p:nvSpPr>
          <p:cNvPr id="45" name="Text 2">
            <a:extLst>
              <a:ext uri="{FF2B5EF4-FFF2-40B4-BE49-F238E27FC236}">
                <a16:creationId xmlns:a16="http://schemas.microsoft.com/office/drawing/2014/main" id="{E4BF6984-B433-DF7E-85BE-7BFA7E8F9642}"/>
              </a:ext>
            </a:extLst>
          </p:cNvPr>
          <p:cNvSpPr/>
          <p:nvPr/>
        </p:nvSpPr>
        <p:spPr>
          <a:xfrm>
            <a:off x="5453323" y="4068426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seguridad, eficiencia y calidad </a:t>
            </a:r>
            <a:endParaRPr lang="es-419" sz="1400" noProof="0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4AD41CFC-9074-7575-2CB9-91F543C7B2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3538" y="3351393"/>
            <a:ext cx="559273" cy="559273"/>
          </a:xfrm>
          <a:prstGeom prst="rect">
            <a:avLst/>
          </a:prstGeom>
        </p:spPr>
      </p:pic>
      <p:sp>
        <p:nvSpPr>
          <p:cNvPr id="49" name="Text 2">
            <a:extLst>
              <a:ext uri="{FF2B5EF4-FFF2-40B4-BE49-F238E27FC236}">
                <a16:creationId xmlns:a16="http://schemas.microsoft.com/office/drawing/2014/main" id="{867E0FE7-B20E-7272-EECC-2A9366BE87BF}"/>
              </a:ext>
            </a:extLst>
          </p:cNvPr>
          <p:cNvSpPr/>
          <p:nvPr/>
        </p:nvSpPr>
        <p:spPr>
          <a:xfrm>
            <a:off x="7242899" y="4079529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funcionamiento </a:t>
            </a:r>
            <a:endParaRPr lang="es-419" sz="1400" noProof="0" dirty="0"/>
          </a:p>
        </p:txBody>
      </p:sp>
    </p:spTree>
    <p:extLst>
      <p:ext uri="{BB962C8B-B14F-4D97-AF65-F5344CB8AC3E}">
        <p14:creationId xmlns:p14="http://schemas.microsoft.com/office/powerpoint/2010/main" val="325638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b="1" kern="0" spc="300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PRINCIPAL</a:t>
            </a:r>
            <a:endParaRPr lang="es-419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011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64008" cy="201168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914400"/>
            <a:ext cx="7040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acelera tareas de programación cuando</a:t>
            </a:r>
            <a:endParaRPr lang="es-419" sz="2200" noProof="0" dirty="0"/>
          </a:p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está bien dado, pero no elimina</a:t>
            </a:r>
            <a:endParaRPr lang="es-419" sz="2200" noProof="0" dirty="0"/>
          </a:p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 de criterio técnico.</a:t>
            </a:r>
            <a:endParaRPr lang="es-419" sz="2200" noProof="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2606040" cy="1554480"/>
          </a:xfrm>
          <a:prstGeom prst="rect">
            <a:avLst/>
          </a:prstGeom>
          <a:solidFill>
            <a:srgbClr val="1C2128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461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218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</a:t>
            </a:r>
            <a:endParaRPr lang="es-419" sz="1400" noProof="0" dirty="0"/>
          </a:p>
        </p:txBody>
      </p:sp>
      <p:sp>
        <p:nvSpPr>
          <p:cNvPr id="11" name="Text 7"/>
          <p:cNvSpPr/>
          <p:nvPr/>
        </p:nvSpPr>
        <p:spPr>
          <a:xfrm>
            <a:off x="64008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programación repetitivas y de bajo nivel</a:t>
            </a:r>
            <a:endParaRPr lang="es-419" sz="1100" noProof="0" dirty="0"/>
          </a:p>
        </p:txBody>
      </p:sp>
      <p:sp>
        <p:nvSpPr>
          <p:cNvPr id="12" name="Shape 8"/>
          <p:cNvSpPr/>
          <p:nvPr/>
        </p:nvSpPr>
        <p:spPr>
          <a:xfrm>
            <a:off x="3291840" y="3108960"/>
            <a:ext cx="2606040" cy="1554480"/>
          </a:xfrm>
          <a:prstGeom prst="rect">
            <a:avLst/>
          </a:prstGeom>
          <a:solidFill>
            <a:srgbClr val="1C2128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461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7640" y="3218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noProof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</a:t>
            </a:r>
            <a:endParaRPr lang="es-419" sz="1400" noProof="0" dirty="0"/>
          </a:p>
        </p:txBody>
      </p:sp>
      <p:sp>
        <p:nvSpPr>
          <p:cNvPr id="15" name="Text 10"/>
          <p:cNvSpPr/>
          <p:nvPr/>
        </p:nvSpPr>
        <p:spPr>
          <a:xfrm>
            <a:off x="347472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análisis, diseño y decisiones de arquitectura</a:t>
            </a:r>
            <a:endParaRPr lang="es-419" sz="1100" noProof="0" dirty="0"/>
          </a:p>
        </p:txBody>
      </p:sp>
      <p:sp>
        <p:nvSpPr>
          <p:cNvPr id="16" name="Shape 11"/>
          <p:cNvSpPr/>
          <p:nvPr/>
        </p:nvSpPr>
        <p:spPr>
          <a:xfrm>
            <a:off x="6126480" y="3108960"/>
            <a:ext cx="2606040" cy="1554480"/>
          </a:xfrm>
          <a:prstGeom prst="rect">
            <a:avLst/>
          </a:prstGeom>
          <a:solidFill>
            <a:srgbClr val="1C2128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461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3218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noProof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endParaRPr lang="es-419" sz="1400" noProof="0" dirty="0"/>
          </a:p>
        </p:txBody>
      </p:sp>
      <p:sp>
        <p:nvSpPr>
          <p:cNvPr id="19" name="Text 13"/>
          <p:cNvSpPr/>
          <p:nvPr/>
        </p:nvSpPr>
        <p:spPr>
          <a:xfrm>
            <a:off x="630936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claro y revisión humana constante</a:t>
            </a:r>
            <a:endParaRPr lang="es-419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411480"/>
            <a:ext cx="3840480" cy="1005840"/>
          </a:xfrm>
          <a:prstGeom prst="rect">
            <a:avLst/>
          </a:prstGeom>
          <a:solidFill>
            <a:srgbClr val="2D1515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64008" cy="100584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70" y="70774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457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común: creer que </a:t>
            </a:r>
            <a:r>
              <a:rPr lang="es-419" sz="1300" b="1" noProof="0" dirty="0" err="1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s-419" sz="1300" noProof="0" dirty="0"/>
          </a:p>
          <a:p>
            <a:pPr marL="0" indent="0">
              <a:buNone/>
            </a:pPr>
            <a:r>
              <a:rPr lang="es-419" sz="1300" b="1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'entiende programación'</a:t>
            </a:r>
            <a:endParaRPr lang="es-419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4572000" y="411480"/>
            <a:ext cx="4160520" cy="10058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6"/>
          <p:cNvSpPr/>
          <p:nvPr/>
        </p:nvSpPr>
        <p:spPr>
          <a:xfrm>
            <a:off x="4572000" y="411480"/>
            <a:ext cx="64008" cy="100584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70774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3792" y="457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Realidad: es un modelo</a:t>
            </a:r>
            <a:endParaRPr lang="es-419" sz="1300" noProof="0" dirty="0"/>
          </a:p>
          <a:p>
            <a:pPr marL="0" indent="0">
              <a:buNone/>
            </a:pPr>
            <a:r>
              <a:rPr lang="es-419" sz="1300" b="1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 estadístico</a:t>
            </a:r>
            <a:endParaRPr lang="es-419" sz="1300" noProof="0" dirty="0"/>
          </a:p>
        </p:txBody>
      </p:sp>
      <p:sp>
        <p:nvSpPr>
          <p:cNvPr id="12" name="Text 8"/>
          <p:cNvSpPr/>
          <p:nvPr/>
        </p:nvSpPr>
        <p:spPr>
          <a:xfrm>
            <a:off x="365760" y="15544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realmente?</a:t>
            </a:r>
            <a:endParaRPr lang="es-419" sz="1400" noProof="0" dirty="0"/>
          </a:p>
        </p:txBody>
      </p:sp>
      <p:sp>
        <p:nvSpPr>
          <p:cNvPr id="13" name="Shape 9"/>
          <p:cNvSpPr/>
          <p:nvPr/>
        </p:nvSpPr>
        <p:spPr>
          <a:xfrm>
            <a:off x="713232" y="2148840"/>
            <a:ext cx="777240" cy="77724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0"/>
          <p:cNvSpPr/>
          <p:nvPr/>
        </p:nvSpPr>
        <p:spPr>
          <a:xfrm>
            <a:off x="713232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419" sz="1800" noProof="0" dirty="0"/>
          </a:p>
        </p:txBody>
      </p:sp>
      <p:sp>
        <p:nvSpPr>
          <p:cNvPr id="15" name="Text 11"/>
          <p:cNvSpPr/>
          <p:nvPr/>
        </p:nvSpPr>
        <p:spPr>
          <a:xfrm>
            <a:off x="365760" y="29992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</a:t>
            </a:r>
            <a:endParaRPr lang="es-419" sz="1100" noProof="0" dirty="0"/>
          </a:p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s-419" sz="1100" noProof="0" dirty="0"/>
          </a:p>
        </p:txBody>
      </p:sp>
      <p:sp>
        <p:nvSpPr>
          <p:cNvPr id="16" name="Shape 12"/>
          <p:cNvSpPr/>
          <p:nvPr/>
        </p:nvSpPr>
        <p:spPr>
          <a:xfrm>
            <a:off x="1499616" y="2496312"/>
            <a:ext cx="566928" cy="3658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3"/>
          <p:cNvSpPr/>
          <p:nvPr/>
        </p:nvSpPr>
        <p:spPr>
          <a:xfrm>
            <a:off x="2423160" y="2148840"/>
            <a:ext cx="777240" cy="77724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4"/>
          <p:cNvSpPr/>
          <p:nvPr/>
        </p:nvSpPr>
        <p:spPr>
          <a:xfrm>
            <a:off x="242316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419" sz="1800" noProof="0" dirty="0"/>
          </a:p>
        </p:txBody>
      </p:sp>
      <p:sp>
        <p:nvSpPr>
          <p:cNvPr id="19" name="Text 15"/>
          <p:cNvSpPr/>
          <p:nvPr/>
        </p:nvSpPr>
        <p:spPr>
          <a:xfrm>
            <a:off x="2075688" y="29992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toma</a:t>
            </a:r>
            <a:endParaRPr lang="es-419" sz="1100" noProof="0" dirty="0"/>
          </a:p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s-419" sz="1100" noProof="0" dirty="0"/>
          </a:p>
        </p:txBody>
      </p:sp>
      <p:sp>
        <p:nvSpPr>
          <p:cNvPr id="20" name="Shape 16"/>
          <p:cNvSpPr/>
          <p:nvPr/>
        </p:nvSpPr>
        <p:spPr>
          <a:xfrm>
            <a:off x="3209544" y="2496312"/>
            <a:ext cx="566928" cy="3658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Shape 17"/>
          <p:cNvSpPr/>
          <p:nvPr/>
        </p:nvSpPr>
        <p:spPr>
          <a:xfrm>
            <a:off x="4133088" y="2148840"/>
            <a:ext cx="777240" cy="777240"/>
          </a:xfrm>
          <a:prstGeom prst="ellipse">
            <a:avLst/>
          </a:prstGeom>
          <a:solidFill>
            <a:srgbClr val="E3B341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Text 18"/>
          <p:cNvSpPr/>
          <p:nvPr/>
        </p:nvSpPr>
        <p:spPr>
          <a:xfrm>
            <a:off x="4133088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419" sz="1800" noProof="0" dirty="0"/>
          </a:p>
        </p:txBody>
      </p:sp>
      <p:sp>
        <p:nvSpPr>
          <p:cNvPr id="23" name="Text 19"/>
          <p:cNvSpPr/>
          <p:nvPr/>
        </p:nvSpPr>
        <p:spPr>
          <a:xfrm>
            <a:off x="3785616" y="29992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al</a:t>
            </a:r>
            <a:endParaRPr lang="es-419" sz="1100" noProof="0" dirty="0"/>
          </a:p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LLM</a:t>
            </a:r>
            <a:endParaRPr lang="es-419" sz="1100" noProof="0" dirty="0"/>
          </a:p>
        </p:txBody>
      </p:sp>
      <p:sp>
        <p:nvSpPr>
          <p:cNvPr id="24" name="Shape 20"/>
          <p:cNvSpPr/>
          <p:nvPr/>
        </p:nvSpPr>
        <p:spPr>
          <a:xfrm>
            <a:off x="4919472" y="2496312"/>
            <a:ext cx="566928" cy="3658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Shape 21"/>
          <p:cNvSpPr/>
          <p:nvPr/>
        </p:nvSpPr>
        <p:spPr>
          <a:xfrm>
            <a:off x="5843016" y="2148840"/>
            <a:ext cx="777240" cy="777240"/>
          </a:xfrm>
          <a:prstGeom prst="ellipse">
            <a:avLst/>
          </a:prstGeom>
          <a:solidFill>
            <a:srgbClr val="F78166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Text 22"/>
          <p:cNvSpPr/>
          <p:nvPr/>
        </p:nvSpPr>
        <p:spPr>
          <a:xfrm>
            <a:off x="5843016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419" sz="1800" noProof="0" dirty="0"/>
          </a:p>
        </p:txBody>
      </p:sp>
      <p:sp>
        <p:nvSpPr>
          <p:cNvPr id="27" name="Text 23"/>
          <p:cNvSpPr/>
          <p:nvPr/>
        </p:nvSpPr>
        <p:spPr>
          <a:xfrm>
            <a:off x="5495544" y="29992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</a:t>
            </a:r>
            <a:endParaRPr lang="es-419" sz="1100" noProof="0" dirty="0"/>
          </a:p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</a:t>
            </a:r>
            <a:endParaRPr lang="es-419" sz="1100" noProof="0" dirty="0"/>
          </a:p>
        </p:txBody>
      </p:sp>
      <p:sp>
        <p:nvSpPr>
          <p:cNvPr id="28" name="Shape 24"/>
          <p:cNvSpPr/>
          <p:nvPr/>
        </p:nvSpPr>
        <p:spPr>
          <a:xfrm>
            <a:off x="6629400" y="2496312"/>
            <a:ext cx="566928" cy="3658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Shape 25"/>
          <p:cNvSpPr/>
          <p:nvPr/>
        </p:nvSpPr>
        <p:spPr>
          <a:xfrm>
            <a:off x="7552944" y="2148840"/>
            <a:ext cx="777240" cy="777240"/>
          </a:xfrm>
          <a:prstGeom prst="ellipse">
            <a:avLst/>
          </a:prstGeom>
          <a:solidFill>
            <a:srgbClr val="3FB950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6"/>
          <p:cNvSpPr/>
          <p:nvPr/>
        </p:nvSpPr>
        <p:spPr>
          <a:xfrm>
            <a:off x="7552944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419" sz="1800" noProof="0" dirty="0"/>
          </a:p>
        </p:txBody>
      </p:sp>
      <p:sp>
        <p:nvSpPr>
          <p:cNvPr id="31" name="Text 27"/>
          <p:cNvSpPr/>
          <p:nvPr/>
        </p:nvSpPr>
        <p:spPr>
          <a:xfrm>
            <a:off x="7205472" y="29992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s-419" sz="1100" noProof="0" dirty="0"/>
          </a:p>
          <a:p>
            <a:pPr marL="0" indent="0" algn="ctr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</a:t>
            </a:r>
            <a:endParaRPr lang="es-419" sz="1100" noProof="0" dirty="0"/>
          </a:p>
        </p:txBody>
      </p:sp>
      <p:sp>
        <p:nvSpPr>
          <p:cNvPr id="32" name="Shape 28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Shape 29"/>
          <p:cNvSpPr/>
          <p:nvPr/>
        </p:nvSpPr>
        <p:spPr>
          <a:xfrm>
            <a:off x="365760" y="3886200"/>
            <a:ext cx="64008" cy="640080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4" name="Text 30"/>
          <p:cNvSpPr/>
          <p:nvPr/>
        </p:nvSpPr>
        <p:spPr>
          <a:xfrm>
            <a:off x="548640" y="3950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i="1" noProof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 IA no sabe si el código es correcto. Solo sabe qué es estadísticamente probable.</a:t>
            </a:r>
            <a:endParaRPr lang="es-419" sz="13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b="1" kern="0" spc="300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s-419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2070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64008" cy="120700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530352" y="978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incorrecto aceptado</a:t>
            </a:r>
            <a:endParaRPr lang="es-419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puede generar código que compila pero que tiene lógica errónea o comportamientos inesperados.</a:t>
            </a:r>
            <a:endParaRPr lang="es-419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2070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64008" cy="120700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4919472" y="978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seguridad</a:t>
            </a:r>
            <a:endParaRPr lang="es-419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4919472" y="13258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inseguros del código de entrenamiento pueden replicarse en las sugerencias generadas.</a:t>
            </a:r>
            <a:endParaRPr lang="es-419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4114800" cy="12070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2221992"/>
            <a:ext cx="64008" cy="1207008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530352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confianza</a:t>
            </a:r>
            <a:endParaRPr lang="es-419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530352" y="267919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reduce su análisis crítico delegando el razonamiento al modelo.</a:t>
            </a:r>
            <a:endParaRPr lang="es-419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754880" y="2221992"/>
            <a:ext cx="4114800" cy="12070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5"/>
          <p:cNvSpPr/>
          <p:nvPr/>
        </p:nvSpPr>
        <p:spPr>
          <a:xfrm>
            <a:off x="4754880" y="2221992"/>
            <a:ext cx="64008" cy="1207008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4919472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información</a:t>
            </a:r>
            <a:endParaRPr lang="es-419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4919472" y="267919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enviado al modelo puede incluir datos sensibles o propietarios del proyecto.</a:t>
            </a:r>
            <a:endParaRPr lang="es-419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4114800" cy="12070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Shape 19"/>
          <p:cNvSpPr/>
          <p:nvPr/>
        </p:nvSpPr>
        <p:spPr>
          <a:xfrm>
            <a:off x="365760" y="3575304"/>
            <a:ext cx="64008" cy="1207008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Text 20"/>
          <p:cNvSpPr/>
          <p:nvPr/>
        </p:nvSpPr>
        <p:spPr>
          <a:xfrm>
            <a:off x="530352" y="3685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oculta</a:t>
            </a:r>
            <a:endParaRPr lang="es-419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530352" y="403250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generado sin comprensión del diseño puede deteriorar la arquitectura del sistema.</a:t>
            </a:r>
            <a:endParaRPr lang="es-419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754880" y="3575304"/>
            <a:ext cx="4114800" cy="12070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Shape 23"/>
          <p:cNvSpPr/>
          <p:nvPr/>
        </p:nvSpPr>
        <p:spPr>
          <a:xfrm>
            <a:off x="4754880" y="3575304"/>
            <a:ext cx="64008" cy="1207008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Text 24"/>
          <p:cNvSpPr/>
          <p:nvPr/>
        </p:nvSpPr>
        <p:spPr>
          <a:xfrm>
            <a:off x="4919472" y="3685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asistente</a:t>
            </a:r>
            <a:endParaRPr lang="es-419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4919472" y="403250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la capacidad de pensar y resolver problemas de forma autónoma.</a:t>
            </a:r>
            <a:endParaRPr lang="es-419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9AA0F-BEF5-3C8B-FBD8-401B7DC6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544E9D-7CB8-ECEC-DEA9-45954EAD74E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5E0AD4-1976-566D-9D09-205D3D22198C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DESARROLLÓ GITHUB COPILOT?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82E13C4-2B65-B8D7-614A-DBE371FBE93B}"/>
              </a:ext>
            </a:extLst>
          </p:cNvPr>
          <p:cNvSpPr/>
          <p:nvPr/>
        </p:nvSpPr>
        <p:spPr>
          <a:xfrm>
            <a:off x="1852747" y="1689976"/>
            <a:ext cx="96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s-419" sz="1600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83255F-DB9C-E31E-7BF1-5E8A05B0EA2A}"/>
              </a:ext>
            </a:extLst>
          </p:cNvPr>
          <p:cNvSpPr txBox="1"/>
          <p:nvPr/>
        </p:nvSpPr>
        <p:spPr>
          <a:xfrm>
            <a:off x="1248654" y="3452976"/>
            <a:ext cx="6906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Impulsado por </a:t>
            </a:r>
            <a:r>
              <a:rPr lang="es-419" sz="1400" b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es-419" sz="1400" b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Codex</a:t>
            </a:r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modelo de lenguaje entrenado con una gran cantidad de código fuente público, destaca por su capacidad especial para tareas de programación</a:t>
            </a: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419" sz="12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984E70-136B-65AE-2EBD-3B8F0531EE49}"/>
              </a:ext>
            </a:extLst>
          </p:cNvPr>
          <p:cNvSpPr/>
          <p:nvPr/>
        </p:nvSpPr>
        <p:spPr>
          <a:xfrm>
            <a:off x="4306463" y="1689976"/>
            <a:ext cx="96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s-419" sz="160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78D7A8C-3ED4-9113-AD22-6A54F84E5C74}"/>
              </a:ext>
            </a:extLst>
          </p:cNvPr>
          <p:cNvSpPr/>
          <p:nvPr/>
        </p:nvSpPr>
        <p:spPr>
          <a:xfrm>
            <a:off x="6561000" y="1689976"/>
            <a:ext cx="96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s-419" sz="1600" noProof="0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493FFF6-BA1B-2C53-69A4-136F13902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0572" y="2027911"/>
            <a:ext cx="1062856" cy="106285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FDEA88F8-F0EE-EE70-0359-9AC417182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1715" y="2049617"/>
            <a:ext cx="1062856" cy="106285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94369C44-EEBC-4F40-78C3-1887F8293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9429" y="2027911"/>
            <a:ext cx="1062856" cy="1062856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1C0D0CDC-BA25-B1DE-792A-912B800FD385}"/>
              </a:ext>
            </a:extLst>
          </p:cNvPr>
          <p:cNvSpPr/>
          <p:nvPr/>
        </p:nvSpPr>
        <p:spPr>
          <a:xfrm>
            <a:off x="3241559" y="2325923"/>
            <a:ext cx="96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s-419" sz="1600" noProof="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80306811-6055-9341-9384-67DFE14EF816}"/>
              </a:ext>
            </a:extLst>
          </p:cNvPr>
          <p:cNvSpPr/>
          <p:nvPr/>
        </p:nvSpPr>
        <p:spPr>
          <a:xfrm>
            <a:off x="5677001" y="2325923"/>
            <a:ext cx="96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s-419" sz="1600" noProof="0" dirty="0"/>
          </a:p>
        </p:txBody>
      </p:sp>
    </p:spTree>
    <p:extLst>
      <p:ext uri="{BB962C8B-B14F-4D97-AF65-F5344CB8AC3E}">
        <p14:creationId xmlns:p14="http://schemas.microsoft.com/office/powerpoint/2010/main" val="1842445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9E24C-F805-614A-C7B7-FE6853BE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AA929D-ADDA-FB1C-0758-54D60DE2F49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5F9941-FF1C-9197-F935-1DED4A9AD347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USARLO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124E6F-A9EF-C980-B39E-45BB940C08CE}"/>
              </a:ext>
            </a:extLst>
          </p:cNvPr>
          <p:cNvSpPr txBox="1"/>
          <p:nvPr/>
        </p:nvSpPr>
        <p:spPr>
          <a:xfrm>
            <a:off x="262624" y="777235"/>
            <a:ext cx="8515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r>
              <a:rPr lang="es-419" sz="12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integra directamente en diversos entornos de desarrollo, lo que facilita su uso sin necesidad de abandonar el editor de código habitual.</a:t>
            </a:r>
            <a:endParaRPr lang="es-419" sz="1200" noProof="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82DF371E-2A9A-EA21-1510-3BA1D4ABA575}"/>
              </a:ext>
            </a:extLst>
          </p:cNvPr>
          <p:cNvSpPr/>
          <p:nvPr/>
        </p:nvSpPr>
        <p:spPr>
          <a:xfrm>
            <a:off x="2861550" y="2479406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s-419" sz="1400" noProof="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F1152714-D4EC-0DF3-80C2-874893B984ED}"/>
              </a:ext>
            </a:extLst>
          </p:cNvPr>
          <p:cNvSpPr/>
          <p:nvPr/>
        </p:nvSpPr>
        <p:spPr>
          <a:xfrm>
            <a:off x="1390694" y="2502805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</a:t>
            </a:r>
            <a:endParaRPr lang="es-419" sz="1400" noProof="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04E97D9D-2595-94FD-F6A6-514C453166ED}"/>
              </a:ext>
            </a:extLst>
          </p:cNvPr>
          <p:cNvSpPr/>
          <p:nvPr/>
        </p:nvSpPr>
        <p:spPr>
          <a:xfrm>
            <a:off x="4852418" y="1600028"/>
            <a:ext cx="3885426" cy="75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</a:t>
            </a:r>
            <a:r>
              <a:rPr lang="es-419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IDEs</a:t>
            </a: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mediante </a:t>
            </a:r>
            <a:r>
              <a:rPr lang="es-419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Extensiones</a:t>
            </a:r>
            <a:endParaRPr lang="es-419" sz="1400" noProof="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ACE6F855-9D9F-2776-827A-D2F3FC756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333" y="1926306"/>
            <a:ext cx="544059" cy="544059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92E2C7C8-361C-2982-328F-B0B051C42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868" y="1841280"/>
            <a:ext cx="544060" cy="54406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98F395C3-F7ED-1C5C-FB52-5184B22E6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218" y="2472930"/>
            <a:ext cx="446218" cy="544059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0F520224-7C34-1D30-5756-D178F639E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3648" y="2460966"/>
            <a:ext cx="618443" cy="618443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0CD598A1-BD21-1C95-1C92-55B4445CA0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8869" y="2460967"/>
            <a:ext cx="618443" cy="618443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FBF711F6-C7A3-6727-A73B-E14B58C671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2668" y="2470365"/>
            <a:ext cx="623989" cy="623989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89E73788-6C7B-4C48-F1B0-D83D10B045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207" y="3228549"/>
            <a:ext cx="3074310" cy="922293"/>
          </a:xfrm>
          <a:prstGeom prst="rect">
            <a:avLst/>
          </a:prstGeom>
        </p:spPr>
      </p:pic>
      <p:sp>
        <p:nvSpPr>
          <p:cNvPr id="47" name="Text 2">
            <a:extLst>
              <a:ext uri="{FF2B5EF4-FFF2-40B4-BE49-F238E27FC236}">
                <a16:creationId xmlns:a16="http://schemas.microsoft.com/office/drawing/2014/main" id="{6E85FC4B-35F2-10C3-B90E-FE1A6D15F4C7}"/>
              </a:ext>
            </a:extLst>
          </p:cNvPr>
          <p:cNvSpPr/>
          <p:nvPr/>
        </p:nvSpPr>
        <p:spPr>
          <a:xfrm>
            <a:off x="1321776" y="4174241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</a:t>
            </a:r>
            <a:endParaRPr lang="es-419" sz="1400" noProof="0" dirty="0"/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D6830312-033B-F380-BD72-FC33F7F049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5115" y="3549979"/>
            <a:ext cx="653453" cy="653453"/>
          </a:xfrm>
          <a:prstGeom prst="rect">
            <a:avLst/>
          </a:prstGeom>
        </p:spPr>
      </p:pic>
      <p:pic>
        <p:nvPicPr>
          <p:cNvPr id="58" name="Imagen 57" descr="File:Icona Xcode.png - Wikipedia">
            <a:extLst>
              <a:ext uri="{FF2B5EF4-FFF2-40B4-BE49-F238E27FC236}">
                <a16:creationId xmlns:a16="http://schemas.microsoft.com/office/drawing/2014/main" id="{F3D87A23-27AD-540C-45E0-A60D3569DD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0409" y="3549978"/>
            <a:ext cx="653453" cy="653453"/>
          </a:xfrm>
          <a:prstGeom prst="rect">
            <a:avLst/>
          </a:prstGeom>
        </p:spPr>
      </p:pic>
      <p:sp>
        <p:nvSpPr>
          <p:cNvPr id="59" name="Text 2">
            <a:extLst>
              <a:ext uri="{FF2B5EF4-FFF2-40B4-BE49-F238E27FC236}">
                <a16:creationId xmlns:a16="http://schemas.microsoft.com/office/drawing/2014/main" id="{4FB2F189-4D57-7DF1-D592-FF5B535CB28D}"/>
              </a:ext>
            </a:extLst>
          </p:cNvPr>
          <p:cNvSpPr/>
          <p:nvPr/>
        </p:nvSpPr>
        <p:spPr>
          <a:xfrm>
            <a:off x="212152" y="2479406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s-419" sz="1400" noProof="0" dirty="0"/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39DEAF28-29C8-2A17-9641-C3C4F42614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815" y="1766326"/>
            <a:ext cx="713080" cy="71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6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9707F-EFFB-946F-E7D9-7A25912F3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7AEC60-6116-538F-315A-5A6C703F724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257CC8-E366-EDF8-55F7-CCAB99294598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355A9E31-634E-7FD4-01B6-92B2BAECC4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0" y="1027529"/>
            <a:ext cx="2011680" cy="3789019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C16F39F5-EBC8-31BC-C565-E4952CB49934}"/>
              </a:ext>
            </a:extLst>
          </p:cNvPr>
          <p:cNvSpPr/>
          <p:nvPr/>
        </p:nvSpPr>
        <p:spPr>
          <a:xfrm>
            <a:off x="457200" y="1118970"/>
            <a:ext cx="777240" cy="256032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  <p:txBody>
          <a:bodyPr/>
          <a:lstStyle/>
          <a:p>
            <a:pPr algn="r"/>
            <a:endParaRPr lang="es-419" noProof="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73691913-CA20-BCCE-6207-BF763149002E}"/>
              </a:ext>
            </a:extLst>
          </p:cNvPr>
          <p:cNvSpPr/>
          <p:nvPr/>
        </p:nvSpPr>
        <p:spPr>
          <a:xfrm>
            <a:off x="457200" y="111897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s-419" sz="900" noProof="0" dirty="0"/>
          </a:p>
        </p:txBody>
      </p:sp>
      <p:pic>
        <p:nvPicPr>
          <p:cNvPr id="51" name="Image 1" descr="preencoded.png">
            <a:extLst>
              <a:ext uri="{FF2B5EF4-FFF2-40B4-BE49-F238E27FC236}">
                <a16:creationId xmlns:a16="http://schemas.microsoft.com/office/drawing/2014/main" id="{24190885-A558-5FD6-4072-A017098B3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484730"/>
            <a:ext cx="640080" cy="640080"/>
          </a:xfrm>
          <a:prstGeom prst="rect">
            <a:avLst/>
          </a:prstGeom>
        </p:spPr>
      </p:pic>
      <p:sp>
        <p:nvSpPr>
          <p:cNvPr id="52" name="Text 12">
            <a:extLst>
              <a:ext uri="{FF2B5EF4-FFF2-40B4-BE49-F238E27FC236}">
                <a16:creationId xmlns:a16="http://schemas.microsoft.com/office/drawing/2014/main" id="{B789002B-1E6D-F437-5DB4-2389A4A47C2D}"/>
              </a:ext>
            </a:extLst>
          </p:cNvPr>
          <p:cNvSpPr/>
          <p:nvPr/>
        </p:nvSpPr>
        <p:spPr>
          <a:xfrm>
            <a:off x="457200" y="221625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</a:t>
            </a:r>
            <a:endParaRPr lang="es-419" sz="1300" noProof="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8EED0194-BBE5-9D34-620E-427F69FC32E7}"/>
              </a:ext>
            </a:extLst>
          </p:cNvPr>
          <p:cNvSpPr/>
          <p:nvPr/>
        </p:nvSpPr>
        <p:spPr>
          <a:xfrm>
            <a:off x="457200" y="262773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1000" noProof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interactivo</a:t>
            </a:r>
            <a:endParaRPr lang="es-419" sz="1000" noProof="0" dirty="0"/>
          </a:p>
          <a:p>
            <a:pPr marL="0" indent="0" algn="ctr">
              <a:buNone/>
            </a:pPr>
            <a:endParaRPr lang="es-419" sz="1000" noProof="0" dirty="0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F1E37A5C-3205-20D3-39A4-4641316C96C5}"/>
              </a:ext>
            </a:extLst>
          </p:cNvPr>
          <p:cNvSpPr/>
          <p:nvPr/>
        </p:nvSpPr>
        <p:spPr>
          <a:xfrm>
            <a:off x="502920" y="2902901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el contexto del proyecto. Es decir, puede relacionar sus respuestas con el código en el que se está trabajando, los archivos abiertos y la estructura general del proyecto.</a:t>
            </a:r>
          </a:p>
          <a:p>
            <a:pPr algn="ctr"/>
            <a:endParaRPr lang="es-419" sz="1000" dirty="0">
              <a:solidFill>
                <a:srgbClr val="C9D1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un modo agente dentro del editor.</a:t>
            </a:r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A2742D58-FDEC-E59E-18EB-6614A8660D32}"/>
              </a:ext>
            </a:extLst>
          </p:cNvPr>
          <p:cNvSpPr>
            <a:spLocks/>
          </p:cNvSpPr>
          <p:nvPr/>
        </p:nvSpPr>
        <p:spPr>
          <a:xfrm>
            <a:off x="2560320" y="1027530"/>
            <a:ext cx="2011680" cy="378901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46285248-611F-66DE-E30D-CB96899A0AED}"/>
              </a:ext>
            </a:extLst>
          </p:cNvPr>
          <p:cNvSpPr/>
          <p:nvPr/>
        </p:nvSpPr>
        <p:spPr>
          <a:xfrm>
            <a:off x="2651760" y="1118970"/>
            <a:ext cx="77724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32511932-CA52-351F-F4F9-7F02408F267A}"/>
              </a:ext>
            </a:extLst>
          </p:cNvPr>
          <p:cNvSpPr/>
          <p:nvPr/>
        </p:nvSpPr>
        <p:spPr>
          <a:xfrm>
            <a:off x="2651760" y="111897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s-419" sz="900" noProof="0" dirty="0"/>
          </a:p>
        </p:txBody>
      </p:sp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B5CB2752-CF2B-1342-6BAF-B6BDE2E0C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484730"/>
            <a:ext cx="640080" cy="640080"/>
          </a:xfrm>
          <a:prstGeom prst="rect">
            <a:avLst/>
          </a:prstGeom>
        </p:spPr>
      </p:pic>
      <p:sp>
        <p:nvSpPr>
          <p:cNvPr id="59" name="Text 6">
            <a:extLst>
              <a:ext uri="{FF2B5EF4-FFF2-40B4-BE49-F238E27FC236}">
                <a16:creationId xmlns:a16="http://schemas.microsoft.com/office/drawing/2014/main" id="{23269F93-B321-3419-A673-075C3B1707F0}"/>
              </a:ext>
            </a:extLst>
          </p:cNvPr>
          <p:cNvSpPr/>
          <p:nvPr/>
        </p:nvSpPr>
        <p:spPr>
          <a:xfrm>
            <a:off x="2633472" y="224825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</a:t>
            </a:r>
            <a:r>
              <a:rPr lang="es-419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s-419" sz="1300" noProof="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F8EFEC7A-6065-95FD-EAE9-387DC4A47016}"/>
              </a:ext>
            </a:extLst>
          </p:cNvPr>
          <p:cNvSpPr/>
          <p:nvPr/>
        </p:nvSpPr>
        <p:spPr>
          <a:xfrm>
            <a:off x="2651760" y="262773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 err="1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r>
              <a:rPr lang="es-419" sz="1000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419" sz="1000" noProof="0" dirty="0" err="1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s-419" sz="1000" noProof="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5A317BD8-329C-466F-C5D9-A8A9251BAE2F}"/>
              </a:ext>
            </a:extLst>
          </p:cNvPr>
          <p:cNvSpPr/>
          <p:nvPr/>
        </p:nvSpPr>
        <p:spPr>
          <a:xfrm>
            <a:off x="2697480" y="2911194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Test </a:t>
            </a:r>
            <a:r>
              <a:rPr lang="es-419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 algn="ctr">
              <a:buNone/>
            </a:pP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líneas o bloques de código enteros en tiempo real mientras escribes en el editor.</a:t>
            </a:r>
          </a:p>
          <a:p>
            <a:pPr marL="0" indent="0" algn="ctr">
              <a:buNone/>
            </a:pPr>
            <a:endParaRPr lang="es-419" sz="1000" dirty="0">
              <a:solidFill>
                <a:srgbClr val="C9D1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</a:t>
            </a:r>
          </a:p>
          <a:p>
            <a:pPr marL="0" indent="0" algn="ctr">
              <a:buNone/>
            </a:pPr>
            <a:endParaRPr lang="es-419" sz="1000" noProof="0" dirty="0"/>
          </a:p>
        </p:txBody>
      </p:sp>
      <p:pic>
        <p:nvPicPr>
          <p:cNvPr id="65" name="Gráfico 64">
            <a:extLst>
              <a:ext uri="{FF2B5EF4-FFF2-40B4-BE49-F238E27FC236}">
                <a16:creationId xmlns:a16="http://schemas.microsoft.com/office/drawing/2014/main" id="{E3E3B905-68B5-2659-E4A0-219955BE8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4775" y="1874732"/>
            <a:ext cx="752998" cy="752998"/>
          </a:xfrm>
          <a:prstGeom prst="rect">
            <a:avLst/>
          </a:prstGeom>
        </p:spPr>
      </p:pic>
      <p:sp>
        <p:nvSpPr>
          <p:cNvPr id="66" name="Shape 3">
            <a:extLst>
              <a:ext uri="{FF2B5EF4-FFF2-40B4-BE49-F238E27FC236}">
                <a16:creationId xmlns:a16="http://schemas.microsoft.com/office/drawing/2014/main" id="{2D87111A-FDBF-B36B-26C9-0D0CF64B76CF}"/>
              </a:ext>
            </a:extLst>
          </p:cNvPr>
          <p:cNvSpPr>
            <a:spLocks/>
          </p:cNvSpPr>
          <p:nvPr/>
        </p:nvSpPr>
        <p:spPr>
          <a:xfrm>
            <a:off x="4754880" y="1079364"/>
            <a:ext cx="2011680" cy="3737184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pic>
        <p:nvPicPr>
          <p:cNvPr id="68" name="Gráfico 67">
            <a:extLst>
              <a:ext uri="{FF2B5EF4-FFF2-40B4-BE49-F238E27FC236}">
                <a16:creationId xmlns:a16="http://schemas.microsoft.com/office/drawing/2014/main" id="{B0C3E59A-65D2-587F-97C5-C6FA9634E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5555" y="1489567"/>
            <a:ext cx="770330" cy="770330"/>
          </a:xfrm>
          <a:prstGeom prst="rect">
            <a:avLst/>
          </a:prstGeom>
        </p:spPr>
      </p:pic>
      <p:sp>
        <p:nvSpPr>
          <p:cNvPr id="69" name="Shape 4">
            <a:extLst>
              <a:ext uri="{FF2B5EF4-FFF2-40B4-BE49-F238E27FC236}">
                <a16:creationId xmlns:a16="http://schemas.microsoft.com/office/drawing/2014/main" id="{9EC10274-1F04-1574-2DEB-E5143582E63D}"/>
              </a:ext>
            </a:extLst>
          </p:cNvPr>
          <p:cNvSpPr/>
          <p:nvPr/>
        </p:nvSpPr>
        <p:spPr>
          <a:xfrm>
            <a:off x="4864749" y="1173887"/>
            <a:ext cx="777240" cy="256032"/>
          </a:xfrm>
          <a:prstGeom prst="rect">
            <a:avLst/>
          </a:prstGeom>
          <a:solidFill>
            <a:srgbClr val="FBC5F1">
              <a:alpha val="2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CCC33ED5-3E84-2135-D8E4-247303ACB597}"/>
              </a:ext>
            </a:extLst>
          </p:cNvPr>
          <p:cNvSpPr/>
          <p:nvPr/>
        </p:nvSpPr>
        <p:spPr>
          <a:xfrm>
            <a:off x="4864749" y="1173887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BC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s-419" sz="900" noProof="0" dirty="0">
              <a:solidFill>
                <a:srgbClr val="FBC5F1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C7793593-2E69-ADED-1738-0E91494970AE}"/>
              </a:ext>
            </a:extLst>
          </p:cNvPr>
          <p:cNvSpPr/>
          <p:nvPr/>
        </p:nvSpPr>
        <p:spPr>
          <a:xfrm>
            <a:off x="4864749" y="227393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Resumenes</a:t>
            </a:r>
            <a:r>
              <a:rPr lang="es-419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</a:t>
            </a:r>
            <a:endParaRPr lang="es-419" sz="1300" noProof="0" dirty="0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DD0517BA-5842-92CE-85ED-DEE67B66D76F}"/>
              </a:ext>
            </a:extLst>
          </p:cNvPr>
          <p:cNvSpPr/>
          <p:nvPr/>
        </p:nvSpPr>
        <p:spPr>
          <a:xfrm>
            <a:off x="4864749" y="262773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FBC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Pull </a:t>
            </a:r>
            <a:r>
              <a:rPr lang="es-419" sz="1000" noProof="0" dirty="0" err="1">
                <a:solidFill>
                  <a:srgbClr val="FBC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s-419" sz="1000" noProof="0" dirty="0">
              <a:solidFill>
                <a:srgbClr val="FBC5F1"/>
              </a:solidFill>
            </a:endParaRPr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FD64055E-A459-A2EB-7BFB-2C147D472D18}"/>
              </a:ext>
            </a:extLst>
          </p:cNvPr>
          <p:cNvSpPr/>
          <p:nvPr/>
        </p:nvSpPr>
        <p:spPr>
          <a:xfrm>
            <a:off x="4910469" y="2911194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líneas o bloques de código enteros en tiempo real mientras escribes en el editor. Analiza los cambios realizados en la Pull </a:t>
            </a:r>
            <a:r>
              <a:rPr lang="es-419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genera un titulo y una descripción detallada para la misma.</a:t>
            </a:r>
            <a:endParaRPr lang="es-419" sz="1000" noProof="0" dirty="0"/>
          </a:p>
        </p:txBody>
      </p:sp>
      <p:pic>
        <p:nvPicPr>
          <p:cNvPr id="74" name="Gráfico 73">
            <a:extLst>
              <a:ext uri="{FF2B5EF4-FFF2-40B4-BE49-F238E27FC236}">
                <a16:creationId xmlns:a16="http://schemas.microsoft.com/office/drawing/2014/main" id="{1AB5959B-FEA3-DE06-D2C4-8D8409B16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1487" y="1892149"/>
            <a:ext cx="752998" cy="752998"/>
          </a:xfrm>
          <a:prstGeom prst="rect">
            <a:avLst/>
          </a:prstGeom>
        </p:spPr>
      </p:pic>
      <p:sp>
        <p:nvSpPr>
          <p:cNvPr id="75" name="Shape 3">
            <a:extLst>
              <a:ext uri="{FF2B5EF4-FFF2-40B4-BE49-F238E27FC236}">
                <a16:creationId xmlns:a16="http://schemas.microsoft.com/office/drawing/2014/main" id="{D5921B8A-5E71-7C0D-4428-B0E10B1F3A88}"/>
              </a:ext>
            </a:extLst>
          </p:cNvPr>
          <p:cNvSpPr/>
          <p:nvPr/>
        </p:nvSpPr>
        <p:spPr>
          <a:xfrm>
            <a:off x="6901592" y="1096780"/>
            <a:ext cx="2011680" cy="3719767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7" name="Shape 4">
            <a:extLst>
              <a:ext uri="{FF2B5EF4-FFF2-40B4-BE49-F238E27FC236}">
                <a16:creationId xmlns:a16="http://schemas.microsoft.com/office/drawing/2014/main" id="{80E14E32-9FD1-767C-995A-8E024BAFDFDF}"/>
              </a:ext>
            </a:extLst>
          </p:cNvPr>
          <p:cNvSpPr/>
          <p:nvPr/>
        </p:nvSpPr>
        <p:spPr>
          <a:xfrm>
            <a:off x="7011461" y="1191304"/>
            <a:ext cx="777240" cy="256032"/>
          </a:xfrm>
          <a:prstGeom prst="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78" name="Text 5">
            <a:extLst>
              <a:ext uri="{FF2B5EF4-FFF2-40B4-BE49-F238E27FC236}">
                <a16:creationId xmlns:a16="http://schemas.microsoft.com/office/drawing/2014/main" id="{42BF5A93-312B-E735-62D9-C569DB4DF6E2}"/>
              </a:ext>
            </a:extLst>
          </p:cNvPr>
          <p:cNvSpPr/>
          <p:nvPr/>
        </p:nvSpPr>
        <p:spPr>
          <a:xfrm>
            <a:off x="7011461" y="11913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s-419" sz="900" noProof="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6095F625-89EA-87B0-4DF9-E7F1820F3B3E}"/>
              </a:ext>
            </a:extLst>
          </p:cNvPr>
          <p:cNvSpPr/>
          <p:nvPr/>
        </p:nvSpPr>
        <p:spPr>
          <a:xfrm>
            <a:off x="7011461" y="229134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s-419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</a:t>
            </a:r>
            <a:r>
              <a:rPr lang="es-419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419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s-419" sz="1300" noProof="0" dirty="0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C8482BBD-7253-C3C5-8AA8-D277ADFCECD2}"/>
              </a:ext>
            </a:extLst>
          </p:cNvPr>
          <p:cNvSpPr/>
          <p:nvPr/>
        </p:nvSpPr>
        <p:spPr>
          <a:xfrm>
            <a:off x="7011461" y="2645147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000" noProof="0" dirty="0" err="1">
                <a:solidFill>
                  <a:schemeClr val="accent6"/>
                </a:solidFill>
              </a:rPr>
              <a:t>Revision</a:t>
            </a:r>
            <a:r>
              <a:rPr lang="es-UY" sz="1000" noProof="0" dirty="0">
                <a:solidFill>
                  <a:schemeClr val="accent6"/>
                </a:solidFill>
              </a:rPr>
              <a:t> </a:t>
            </a:r>
            <a:r>
              <a:rPr lang="es-UY" sz="1000" dirty="0">
                <a:solidFill>
                  <a:schemeClr val="accent6"/>
                </a:solidFill>
              </a:rPr>
              <a:t>de Pull </a:t>
            </a:r>
            <a:r>
              <a:rPr lang="es-UY" sz="1000" dirty="0" err="1">
                <a:solidFill>
                  <a:schemeClr val="accent6"/>
                </a:solidFill>
              </a:rPr>
              <a:t>Requests</a:t>
            </a:r>
            <a:endParaRPr lang="es-419" sz="1000" noProof="0" dirty="0">
              <a:solidFill>
                <a:schemeClr val="accent6"/>
              </a:solidFill>
            </a:endParaRPr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A0F9CAFC-800A-9C3A-6DEF-1A4F538BF894}"/>
              </a:ext>
            </a:extLst>
          </p:cNvPr>
          <p:cNvSpPr/>
          <p:nvPr/>
        </p:nvSpPr>
        <p:spPr>
          <a:xfrm>
            <a:off x="7057181" y="2928611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</a:t>
            </a:r>
            <a:r>
              <a:rPr lang="es-419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misma,.Revisa</a:t>
            </a: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cambios en las </a:t>
            </a:r>
            <a:r>
              <a:rPr lang="es-419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419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señala posibles errores, o mejoras, incluso puede llegar a proponer cambios concretos. </a:t>
            </a:r>
            <a:endParaRPr lang="es-419" sz="1000" dirty="0">
              <a:solidFill>
                <a:srgbClr val="C9D1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419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 mediante comentarios en  la PR.</a:t>
            </a:r>
            <a:endParaRPr lang="es-419" sz="1000" noProof="0" dirty="0"/>
          </a:p>
        </p:txBody>
      </p:sp>
      <p:sp>
        <p:nvSpPr>
          <p:cNvPr id="89" name="CuadroTexto 88">
            <a:hlinkClick r:id="rId6"/>
            <a:extLst>
              <a:ext uri="{FF2B5EF4-FFF2-40B4-BE49-F238E27FC236}">
                <a16:creationId xmlns:a16="http://schemas.microsoft.com/office/drawing/2014/main" id="{724F6198-3486-5FEF-87F6-79FDFF58ACEB}"/>
              </a:ext>
            </a:extLst>
          </p:cNvPr>
          <p:cNvSpPr txBox="1"/>
          <p:nvPr/>
        </p:nvSpPr>
        <p:spPr>
          <a:xfrm>
            <a:off x="7306197" y="4354461"/>
            <a:ext cx="13348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UY" sz="1050" dirty="0">
                <a:solidFill>
                  <a:schemeClr val="accent3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de ejemplo</a:t>
            </a:r>
            <a:endParaRPr lang="es-419" sz="1050" noProof="0" dirty="0">
              <a:solidFill>
                <a:schemeClr val="accent3"/>
              </a:solidFill>
            </a:endParaRPr>
          </a:p>
        </p:txBody>
      </p:sp>
      <p:sp>
        <p:nvSpPr>
          <p:cNvPr id="90" name="CuadroTexto 89">
            <a:hlinkClick r:id="rId6"/>
            <a:extLst>
              <a:ext uri="{FF2B5EF4-FFF2-40B4-BE49-F238E27FC236}">
                <a16:creationId xmlns:a16="http://schemas.microsoft.com/office/drawing/2014/main" id="{868DE9F8-9EE7-ACC1-F66E-B91140407444}"/>
              </a:ext>
            </a:extLst>
          </p:cNvPr>
          <p:cNvSpPr txBox="1"/>
          <p:nvPr/>
        </p:nvSpPr>
        <p:spPr>
          <a:xfrm>
            <a:off x="5093278" y="4354461"/>
            <a:ext cx="13348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UY" sz="1050" dirty="0">
                <a:solidFill>
                  <a:schemeClr val="accent3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de ejemplo</a:t>
            </a:r>
            <a:endParaRPr lang="es-419" sz="1050" noProof="0" dirty="0">
              <a:solidFill>
                <a:schemeClr val="accent3"/>
              </a:solidFill>
            </a:endParaRPr>
          </a:p>
        </p:txBody>
      </p:sp>
      <p:pic>
        <p:nvPicPr>
          <p:cNvPr id="92" name="Imagen 91">
            <a:extLst>
              <a:ext uri="{FF2B5EF4-FFF2-40B4-BE49-F238E27FC236}">
                <a16:creationId xmlns:a16="http://schemas.microsoft.com/office/drawing/2014/main" id="{448027EB-BEE0-6C8E-46A5-605F66C75E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0993" y="1541859"/>
            <a:ext cx="771924" cy="771924"/>
          </a:xfrm>
          <a:prstGeom prst="rect">
            <a:avLst/>
          </a:prstGeom>
        </p:spPr>
      </p:pic>
      <p:sp>
        <p:nvSpPr>
          <p:cNvPr id="93" name="CuadroTexto 92">
            <a:hlinkClick r:id="rId10"/>
            <a:extLst>
              <a:ext uri="{FF2B5EF4-FFF2-40B4-BE49-F238E27FC236}">
                <a16:creationId xmlns:a16="http://schemas.microsoft.com/office/drawing/2014/main" id="{7B71DD0E-5399-A214-C583-4B1A16C29354}"/>
              </a:ext>
            </a:extLst>
          </p:cNvPr>
          <p:cNvSpPr txBox="1"/>
          <p:nvPr/>
        </p:nvSpPr>
        <p:spPr>
          <a:xfrm>
            <a:off x="685870" y="4346680"/>
            <a:ext cx="13348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UY" sz="1050" dirty="0">
                <a:solidFill>
                  <a:schemeClr val="accent3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de ejemplo</a:t>
            </a:r>
            <a:endParaRPr lang="es-419" sz="1050" noProof="0" dirty="0">
              <a:solidFill>
                <a:schemeClr val="accent3"/>
              </a:solidFill>
            </a:endParaRPr>
          </a:p>
        </p:txBody>
      </p:sp>
      <p:sp>
        <p:nvSpPr>
          <p:cNvPr id="94" name="CuadroTexto 93">
            <a:hlinkClick r:id="rId10"/>
            <a:extLst>
              <a:ext uri="{FF2B5EF4-FFF2-40B4-BE49-F238E27FC236}">
                <a16:creationId xmlns:a16="http://schemas.microsoft.com/office/drawing/2014/main" id="{6BE8C26A-E813-9B29-5D3C-EC64F24D64B1}"/>
              </a:ext>
            </a:extLst>
          </p:cNvPr>
          <p:cNvSpPr txBox="1"/>
          <p:nvPr/>
        </p:nvSpPr>
        <p:spPr>
          <a:xfrm>
            <a:off x="2898718" y="3985165"/>
            <a:ext cx="13348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UY" sz="1050" dirty="0">
                <a:solidFill>
                  <a:schemeClr val="accent3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de ejemplo</a:t>
            </a:r>
            <a:endParaRPr lang="es-419" sz="1050" noProof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888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0EB31-53E9-5812-44AF-8B5DF662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E00188-C1AB-E57A-F91C-C2299F77186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F04AD7-F65C-D38D-2E80-B0BB84B6486C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6" name="Shape 21">
            <a:extLst>
              <a:ext uri="{FF2B5EF4-FFF2-40B4-BE49-F238E27FC236}">
                <a16:creationId xmlns:a16="http://schemas.microsoft.com/office/drawing/2014/main" id="{978B17AA-20D2-ED73-C3DA-157C13C417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9794" y="934949"/>
            <a:ext cx="2011680" cy="3880087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22">
            <a:extLst>
              <a:ext uri="{FF2B5EF4-FFF2-40B4-BE49-F238E27FC236}">
                <a16:creationId xmlns:a16="http://schemas.microsoft.com/office/drawing/2014/main" id="{22A0BDF6-48DD-67DA-314D-BE4DDD4AF046}"/>
              </a:ext>
            </a:extLst>
          </p:cNvPr>
          <p:cNvSpPr/>
          <p:nvPr/>
        </p:nvSpPr>
        <p:spPr>
          <a:xfrm>
            <a:off x="318374" y="1026389"/>
            <a:ext cx="777240" cy="256032"/>
          </a:xfrm>
          <a:prstGeom prst="rect">
            <a:avLst/>
          </a:prstGeom>
          <a:solidFill>
            <a:srgbClr val="F78166">
              <a:alpha val="2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49B81B20-D6B3-45FD-05E7-5E690EA31441}"/>
              </a:ext>
            </a:extLst>
          </p:cNvPr>
          <p:cNvSpPr/>
          <p:nvPr/>
        </p:nvSpPr>
        <p:spPr>
          <a:xfrm>
            <a:off x="318374" y="1026389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s-419" sz="900" noProof="0" dirty="0"/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05CA38B8-E0B1-E1C1-1C69-86CF99F27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46" y="1392149"/>
            <a:ext cx="640080" cy="640080"/>
          </a:xfrm>
          <a:prstGeom prst="rect">
            <a:avLst/>
          </a:prstGeom>
        </p:spPr>
      </p:pic>
      <p:sp>
        <p:nvSpPr>
          <p:cNvPr id="10" name="Text 24">
            <a:extLst>
              <a:ext uri="{FF2B5EF4-FFF2-40B4-BE49-F238E27FC236}">
                <a16:creationId xmlns:a16="http://schemas.microsoft.com/office/drawing/2014/main" id="{B17E8415-E111-10C0-3497-B622A8DE7478}"/>
              </a:ext>
            </a:extLst>
          </p:cNvPr>
          <p:cNvSpPr/>
          <p:nvPr/>
        </p:nvSpPr>
        <p:spPr>
          <a:xfrm>
            <a:off x="318374" y="205051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Agent</a:t>
            </a:r>
            <a:endParaRPr lang="es-419" sz="1300" noProof="0" dirty="0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5A0A48F4-B727-DF41-70BB-2747B4461A20}"/>
              </a:ext>
            </a:extLst>
          </p:cNvPr>
          <p:cNvSpPr/>
          <p:nvPr/>
        </p:nvSpPr>
        <p:spPr>
          <a:xfrm>
            <a:off x="318374" y="2409419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autónomo de </a:t>
            </a:r>
            <a:r>
              <a:rPr lang="es-419" sz="1000" noProof="0" dirty="0" err="1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s-419" sz="1000" noProof="0" dirty="0"/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0BF8CDFE-C9D0-4D3F-47A9-2B80B5D39516}"/>
              </a:ext>
            </a:extLst>
          </p:cNvPr>
          <p:cNvSpPr/>
          <p:nvPr/>
        </p:nvSpPr>
        <p:spPr>
          <a:xfrm>
            <a:off x="345806" y="2724355"/>
            <a:ext cx="1737360" cy="1588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</a:t>
            </a:r>
            <a:r>
              <a:rPr lang="es-MX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agente principal de GitHub </a:t>
            </a:r>
            <a:r>
              <a:rPr lang="es-MX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trabaja en la nube realizando tareas complejas a partir de instrucciones del usuario. </a:t>
            </a:r>
          </a:p>
          <a:p>
            <a:pPr marL="0" indent="0" algn="ctr">
              <a:buNone/>
            </a:pP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ejemplo: crear archivos nuevos, modificar archivos existentes, </a:t>
            </a:r>
            <a:r>
              <a:rPr lang="es-MX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s-MX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gregar</a:t>
            </a: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funciones, escribir </a:t>
            </a:r>
            <a:r>
              <a:rPr lang="es-MX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MX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</a:t>
            </a: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justar documentación y realizar PR.</a:t>
            </a:r>
            <a:endParaRPr lang="es-419" sz="1000" noProof="0" dirty="0"/>
          </a:p>
        </p:txBody>
      </p:sp>
      <p:sp>
        <p:nvSpPr>
          <p:cNvPr id="13" name="CuadroTexto 12">
            <a:hlinkClick r:id="rId4"/>
            <a:extLst>
              <a:ext uri="{FF2B5EF4-FFF2-40B4-BE49-F238E27FC236}">
                <a16:creationId xmlns:a16="http://schemas.microsoft.com/office/drawing/2014/main" id="{B5306A23-A75F-EB43-5922-2DE0861A901F}"/>
              </a:ext>
            </a:extLst>
          </p:cNvPr>
          <p:cNvSpPr txBox="1"/>
          <p:nvPr/>
        </p:nvSpPr>
        <p:spPr>
          <a:xfrm>
            <a:off x="565332" y="4391095"/>
            <a:ext cx="13348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UY" sz="1050" dirty="0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de ejemplo</a:t>
            </a:r>
            <a:endParaRPr lang="es-419" sz="1050" noProof="0" dirty="0">
              <a:solidFill>
                <a:schemeClr val="accent3"/>
              </a:solidFill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DD2A7D86-A4B5-81E7-3440-38C19CE8153B}"/>
              </a:ext>
            </a:extLst>
          </p:cNvPr>
          <p:cNvSpPr>
            <a:spLocks/>
          </p:cNvSpPr>
          <p:nvPr/>
        </p:nvSpPr>
        <p:spPr>
          <a:xfrm>
            <a:off x="2498021" y="934948"/>
            <a:ext cx="2011680" cy="3880087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2203FDF7-8A8A-B205-8342-9BB9D0438891}"/>
              </a:ext>
            </a:extLst>
          </p:cNvPr>
          <p:cNvSpPr>
            <a:spLocks/>
          </p:cNvSpPr>
          <p:nvPr/>
        </p:nvSpPr>
        <p:spPr>
          <a:xfrm>
            <a:off x="2589461" y="1026389"/>
            <a:ext cx="1216152" cy="256032"/>
          </a:xfrm>
          <a:prstGeom prst="rect">
            <a:avLst/>
          </a:prstGeom>
          <a:solidFill>
            <a:srgbClr val="E3B341">
              <a:alpha val="2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44686365-8E13-C9B6-5C9D-FDDD03ADF6D1}"/>
              </a:ext>
            </a:extLst>
          </p:cNvPr>
          <p:cNvSpPr>
            <a:spLocks/>
          </p:cNvSpPr>
          <p:nvPr/>
        </p:nvSpPr>
        <p:spPr>
          <a:xfrm>
            <a:off x="2589461" y="1026389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 CLI/ Editor</a:t>
            </a:r>
            <a:endParaRPr lang="es-419" sz="900" noProof="0" dirty="0"/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37B02EF5-3A18-FF80-E6B0-64E73ABD5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5533" y="1392149"/>
            <a:ext cx="640080" cy="640080"/>
          </a:xfrm>
          <a:prstGeom prst="rect">
            <a:avLst/>
          </a:prstGeom>
        </p:spPr>
      </p:pic>
      <p:sp>
        <p:nvSpPr>
          <p:cNvPr id="26" name="Text 18">
            <a:extLst>
              <a:ext uri="{FF2B5EF4-FFF2-40B4-BE49-F238E27FC236}">
                <a16:creationId xmlns:a16="http://schemas.microsoft.com/office/drawing/2014/main" id="{FD24BB3A-1E26-AD18-26D1-336CFB646E50}"/>
              </a:ext>
            </a:extLst>
          </p:cNvPr>
          <p:cNvSpPr>
            <a:spLocks/>
          </p:cNvSpPr>
          <p:nvPr/>
        </p:nvSpPr>
        <p:spPr>
          <a:xfrm>
            <a:off x="2589461" y="207204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r>
              <a:rPr lang="es-419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419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s-419" sz="1300" noProof="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B5A4CB7F-E685-E26F-BC9F-34A02060B97E}"/>
              </a:ext>
            </a:extLst>
          </p:cNvPr>
          <p:cNvSpPr>
            <a:spLocks/>
          </p:cNvSpPr>
          <p:nvPr/>
        </p:nvSpPr>
        <p:spPr>
          <a:xfrm>
            <a:off x="2589461" y="2483529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especializado / personalizado</a:t>
            </a:r>
            <a:endParaRPr lang="es-419" sz="1000" noProof="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7E658F3C-93F8-F487-5E67-95038AC337F0}"/>
              </a:ext>
            </a:extLst>
          </p:cNvPr>
          <p:cNvSpPr>
            <a:spLocks/>
          </p:cNvSpPr>
          <p:nvPr/>
        </p:nvSpPr>
        <p:spPr>
          <a:xfrm>
            <a:off x="2635181" y="2895009"/>
            <a:ext cx="1737360" cy="14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versiones personalizadas de </a:t>
            </a:r>
            <a:r>
              <a:rPr lang="es-MX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Agent  creadas para seguir instrucciones, estándares o flujos específicos.</a:t>
            </a:r>
            <a:endParaRPr lang="es-419" sz="1000" noProof="0" dirty="0"/>
          </a:p>
        </p:txBody>
      </p:sp>
      <p:sp>
        <p:nvSpPr>
          <p:cNvPr id="30" name="CuadroTexto 29">
            <a:hlinkClick r:id="rId4"/>
            <a:extLst>
              <a:ext uri="{FF2B5EF4-FFF2-40B4-BE49-F238E27FC236}">
                <a16:creationId xmlns:a16="http://schemas.microsoft.com/office/drawing/2014/main" id="{709BF711-3823-40E3-F6B0-1F2E80A9E449}"/>
              </a:ext>
            </a:extLst>
          </p:cNvPr>
          <p:cNvSpPr txBox="1">
            <a:spLocks/>
          </p:cNvSpPr>
          <p:nvPr/>
        </p:nvSpPr>
        <p:spPr>
          <a:xfrm>
            <a:off x="2836419" y="4394488"/>
            <a:ext cx="13348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UY" sz="1050" dirty="0">
                <a:solidFill>
                  <a:schemeClr val="accent3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de ejemplo</a:t>
            </a:r>
            <a:endParaRPr lang="es-419" sz="1050" noProof="0" dirty="0">
              <a:solidFill>
                <a:schemeClr val="accent3"/>
              </a:solidFill>
            </a:endParaRPr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667AD074-915C-5C22-B527-047E61B40F12}"/>
              </a:ext>
            </a:extLst>
          </p:cNvPr>
          <p:cNvSpPr/>
          <p:nvPr/>
        </p:nvSpPr>
        <p:spPr>
          <a:xfrm>
            <a:off x="4746249" y="954965"/>
            <a:ext cx="2011680" cy="3880087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9026B17D-9F45-0197-7055-7E3A324A7417}"/>
              </a:ext>
            </a:extLst>
          </p:cNvPr>
          <p:cNvSpPr/>
          <p:nvPr/>
        </p:nvSpPr>
        <p:spPr>
          <a:xfrm>
            <a:off x="4814829" y="1046405"/>
            <a:ext cx="777240" cy="256032"/>
          </a:xfrm>
          <a:prstGeom prst="rect">
            <a:avLst/>
          </a:prstGeom>
          <a:solidFill>
            <a:schemeClr val="bg1">
              <a:alpha val="20000"/>
            </a:scheme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8D243C22-7B2A-A3F7-F548-61D0C48A829F}"/>
              </a:ext>
            </a:extLst>
          </p:cNvPr>
          <p:cNvSpPr/>
          <p:nvPr/>
        </p:nvSpPr>
        <p:spPr>
          <a:xfrm>
            <a:off x="4814829" y="104640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s-419" sz="900" noProof="0" dirty="0">
              <a:solidFill>
                <a:schemeClr val="accent3"/>
              </a:solidFill>
            </a:endParaRPr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6803FBE6-1C60-140E-F703-5334773B1644}"/>
              </a:ext>
            </a:extLst>
          </p:cNvPr>
          <p:cNvSpPr/>
          <p:nvPr/>
        </p:nvSpPr>
        <p:spPr>
          <a:xfrm>
            <a:off x="4814829" y="2070533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</a:t>
            </a:r>
            <a:endParaRPr lang="es-419" sz="1300" noProof="0" dirty="0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F5B39A48-74E7-0A5C-A0A8-24B24994300C}"/>
              </a:ext>
            </a:extLst>
          </p:cNvPr>
          <p:cNvSpPr/>
          <p:nvPr/>
        </p:nvSpPr>
        <p:spPr>
          <a:xfrm>
            <a:off x="4814829" y="242943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000" noProof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terminal</a:t>
            </a:r>
            <a:endParaRPr lang="es-419" sz="1000" noProof="0" dirty="0">
              <a:solidFill>
                <a:schemeClr val="accent3"/>
              </a:solidFill>
            </a:endParaRPr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AC114C6A-D87F-4B2C-009A-3BFD03EA77EE}"/>
              </a:ext>
            </a:extLst>
          </p:cNvPr>
          <p:cNvSpPr/>
          <p:nvPr/>
        </p:nvSpPr>
        <p:spPr>
          <a:xfrm>
            <a:off x="4944139" y="2744371"/>
            <a:ext cx="1635481" cy="1588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buscar manualmente cómo escribir un comando complejo, el desarrollador puede describir lo que quiere hacer en lenguaje natural, y </a:t>
            </a:r>
            <a:r>
              <a:rPr lang="es-MX" sz="10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puede sugerir el comando correspondiente.</a:t>
            </a:r>
            <a:endParaRPr lang="es-419" sz="1000" noProof="0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97444EF9-90AD-F3AE-FBB9-903DDF4E9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0349" y="1453896"/>
            <a:ext cx="661184" cy="661184"/>
          </a:xfrm>
          <a:prstGeom prst="rect">
            <a:avLst/>
          </a:prstGeom>
        </p:spPr>
      </p:pic>
      <p:sp>
        <p:nvSpPr>
          <p:cNvPr id="63" name="Shape 21">
            <a:extLst>
              <a:ext uri="{FF2B5EF4-FFF2-40B4-BE49-F238E27FC236}">
                <a16:creationId xmlns:a16="http://schemas.microsoft.com/office/drawing/2014/main" id="{17E58D51-E993-28DA-338A-323F7A613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47632" y="954965"/>
            <a:ext cx="2011680" cy="3880087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7C0CF3BA-AB9B-C734-962E-C5B37274529B}"/>
              </a:ext>
            </a:extLst>
          </p:cNvPr>
          <p:cNvSpPr/>
          <p:nvPr/>
        </p:nvSpPr>
        <p:spPr>
          <a:xfrm>
            <a:off x="7016212" y="1046405"/>
            <a:ext cx="845820" cy="256032"/>
          </a:xfrm>
          <a:prstGeom prst="rect">
            <a:avLst/>
          </a:prstGeom>
          <a:solidFill>
            <a:srgbClr val="9BC6EF">
              <a:alpha val="2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0C9C8955-455F-0767-BE96-5A84F8153013}"/>
              </a:ext>
            </a:extLst>
          </p:cNvPr>
          <p:cNvSpPr/>
          <p:nvPr/>
        </p:nvSpPr>
        <p:spPr>
          <a:xfrm>
            <a:off x="7016212" y="1046405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9B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r>
              <a:rPr lang="es-419" sz="900" b="1" noProof="0" dirty="0" err="1">
                <a:solidFill>
                  <a:srgbClr val="9B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s-419" sz="900" noProof="0" dirty="0">
              <a:solidFill>
                <a:srgbClr val="9BC6EF"/>
              </a:solidFill>
            </a:endParaRPr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1353C4BA-277C-7B5D-17F6-C21E53FC6F11}"/>
              </a:ext>
            </a:extLst>
          </p:cNvPr>
          <p:cNvSpPr/>
          <p:nvPr/>
        </p:nvSpPr>
        <p:spPr>
          <a:xfrm>
            <a:off x="7016212" y="2070533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s-419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paces</a:t>
            </a:r>
            <a:endParaRPr lang="es-419" sz="1300" noProof="0" dirty="0"/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0295CCFD-0CD0-8292-4F20-E3F004B90515}"/>
              </a:ext>
            </a:extLst>
          </p:cNvPr>
          <p:cNvSpPr/>
          <p:nvPr/>
        </p:nvSpPr>
        <p:spPr>
          <a:xfrm>
            <a:off x="7016212" y="242943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000" noProof="0" dirty="0">
                <a:solidFill>
                  <a:srgbClr val="9BC6EF"/>
                </a:solidFill>
              </a:rPr>
              <a:t>Chat de contexto especifico </a:t>
            </a:r>
            <a:endParaRPr lang="es-419" sz="1000" noProof="0" dirty="0">
              <a:solidFill>
                <a:srgbClr val="9BC6EF"/>
              </a:solidFill>
            </a:endParaRPr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4AB0B026-A1C7-2B60-9120-39B2BEAEF44F}"/>
              </a:ext>
            </a:extLst>
          </p:cNvPr>
          <p:cNvSpPr/>
          <p:nvPr/>
        </p:nvSpPr>
        <p:spPr>
          <a:xfrm>
            <a:off x="7155712" y="2744371"/>
            <a:ext cx="1625292" cy="1588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MX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s-MX" sz="10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frece un espacio dedicado para colaborar con la inteligencia artificial dentro de un proyecto. </a:t>
            </a:r>
            <a:endParaRPr lang="es-MX" sz="1000" dirty="0">
              <a:solidFill>
                <a:srgbClr val="C9D1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86" name="Imagen 85">
            <a:extLst>
              <a:ext uri="{FF2B5EF4-FFF2-40B4-BE49-F238E27FC236}">
                <a16:creationId xmlns:a16="http://schemas.microsoft.com/office/drawing/2014/main" id="{47025C06-EB1D-F33A-EFAC-0746BA1BCF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7670" y="1455865"/>
            <a:ext cx="723784" cy="723784"/>
          </a:xfrm>
          <a:prstGeom prst="rect">
            <a:avLst/>
          </a:prstGeom>
        </p:spPr>
      </p:pic>
      <p:sp>
        <p:nvSpPr>
          <p:cNvPr id="87" name="CuadroTexto 86">
            <a:hlinkClick r:id="rId4"/>
            <a:extLst>
              <a:ext uri="{FF2B5EF4-FFF2-40B4-BE49-F238E27FC236}">
                <a16:creationId xmlns:a16="http://schemas.microsoft.com/office/drawing/2014/main" id="{5F0A735A-F012-224E-A6D3-9494D797C6CC}"/>
              </a:ext>
            </a:extLst>
          </p:cNvPr>
          <p:cNvSpPr txBox="1">
            <a:spLocks/>
          </p:cNvSpPr>
          <p:nvPr/>
        </p:nvSpPr>
        <p:spPr>
          <a:xfrm>
            <a:off x="7263169" y="4453052"/>
            <a:ext cx="13348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UY" sz="1050" dirty="0">
                <a:solidFill>
                  <a:schemeClr val="accent3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de ejemplo</a:t>
            </a:r>
            <a:endParaRPr lang="es-419" sz="1050" noProof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902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b="1" kern="0" spc="300" noProof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EFECTIVO</a:t>
            </a:r>
            <a:endParaRPr lang="es-419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importancia de un buen </a:t>
            </a:r>
            <a:r>
              <a:rPr lang="es-419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s-419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" cy="256032"/>
          </a:xfrm>
          <a:prstGeom prst="ellipse">
            <a:avLst/>
          </a:prstGeom>
          <a:solidFill>
            <a:srgbClr val="E3B341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419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713232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específico: incluye el lenguaje, </a:t>
            </a:r>
            <a:r>
              <a:rPr lang="es-419" sz="12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objetivo</a:t>
            </a:r>
            <a:endParaRPr lang="es-419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256032" cy="256032"/>
          </a:xfrm>
          <a:prstGeom prst="ellipse">
            <a:avLst/>
          </a:prstGeom>
          <a:solidFill>
            <a:srgbClr val="E3B341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419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713232" y="1901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contexto suficiente antes de pedir código</a:t>
            </a:r>
            <a:endParaRPr lang="es-419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256032" cy="256032"/>
          </a:xfrm>
          <a:prstGeom prst="ellipse">
            <a:avLst/>
          </a:prstGeom>
          <a:solidFill>
            <a:srgbClr val="E3B341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36576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419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713232" y="25237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qué querés que haga, no cómo hacerlo</a:t>
            </a:r>
            <a:endParaRPr lang="es-419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256032" cy="256032"/>
          </a:xfrm>
          <a:prstGeom prst="ellipse">
            <a:avLst/>
          </a:prstGeom>
          <a:solidFill>
            <a:srgbClr val="E3B341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Text 13"/>
          <p:cNvSpPr/>
          <p:nvPr/>
        </p:nvSpPr>
        <p:spPr>
          <a:xfrm>
            <a:off x="36576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419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713232" y="31455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restricciones y casos borde relevantes</a:t>
            </a:r>
            <a:endParaRPr lang="es-419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365760" y="3767328"/>
            <a:ext cx="256032" cy="256032"/>
          </a:xfrm>
          <a:prstGeom prst="ellipse">
            <a:avLst/>
          </a:prstGeom>
          <a:solidFill>
            <a:srgbClr val="E3B341">
              <a:alpha val="8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36576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419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713232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Iterá</a:t>
            </a: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primer resultado es un borrador</a:t>
            </a:r>
            <a:endParaRPr lang="es-419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5029200" y="777240"/>
            <a:ext cx="3749040" cy="40690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Shape 19"/>
          <p:cNvSpPr/>
          <p:nvPr/>
        </p:nvSpPr>
        <p:spPr>
          <a:xfrm>
            <a:off x="5029200" y="777240"/>
            <a:ext cx="3749040" cy="384048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Text 20"/>
          <p:cNvSpPr/>
          <p:nvPr/>
        </p:nvSpPr>
        <p:spPr>
          <a:xfrm>
            <a:off x="5029200" y="777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● ● ●   ejemplo-prompt.txt</a:t>
            </a:r>
            <a:endParaRPr lang="es-419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166360" y="1280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</a:t>
            </a:r>
            <a:r>
              <a:rPr lang="es-419" sz="1000" noProof="0" dirty="0" err="1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s-419" sz="1000" noProof="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vago</a:t>
            </a:r>
            <a:endParaRPr lang="es-419" sz="1000" noProof="0" dirty="0"/>
          </a:p>
          <a:p>
            <a:pPr marL="0" indent="0">
              <a:buNone/>
            </a:pPr>
            <a:r>
              <a:rPr lang="es-419" sz="1000" noProof="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s-419" sz="1000" noProof="0" dirty="0" err="1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Hacé</a:t>
            </a:r>
            <a:r>
              <a:rPr lang="es-419" sz="1000" noProof="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una función para usuarios"</a:t>
            </a:r>
            <a:endParaRPr lang="es-419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5166360" y="2103120"/>
            <a:ext cx="3474720" cy="365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Text 23"/>
          <p:cNvSpPr/>
          <p:nvPr/>
        </p:nvSpPr>
        <p:spPr>
          <a:xfrm>
            <a:off x="5166360" y="217627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</a:t>
            </a:r>
            <a:r>
              <a:rPr lang="es-419" sz="1000" noProof="0" dirty="0" err="1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específico</a:t>
            </a:r>
            <a:endParaRPr lang="es-419" sz="1000" noProof="0" dirty="0"/>
          </a:p>
          <a:p>
            <a:pPr marL="0" indent="0">
              <a:buNone/>
            </a:pP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s-419" sz="1000" noProof="0" dirty="0"/>
          </a:p>
          <a:p>
            <a:pPr marL="0" indent="0">
              <a:buNone/>
            </a:pP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Crea una función </a:t>
            </a:r>
            <a:r>
              <a:rPr lang="es-419" sz="1000" noProof="0" dirty="0" err="1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</a:t>
            </a:r>
            <a:endParaRPr lang="es-419" sz="1000" noProof="0" dirty="0"/>
          </a:p>
          <a:p>
            <a:pPr marL="0" indent="0">
              <a:buNone/>
            </a:pP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valide un email, devuelva true/false</a:t>
            </a:r>
            <a:endParaRPr lang="es-419" sz="1000" noProof="0" dirty="0"/>
          </a:p>
          <a:p>
            <a:pPr marL="0" indent="0">
              <a:buNone/>
            </a:pP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y maneje el caso de </a:t>
            </a:r>
            <a:r>
              <a:rPr lang="es-419" sz="1000" noProof="0" dirty="0" err="1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vacío.</a:t>
            </a:r>
            <a:endParaRPr lang="es-419" sz="1000" noProof="0" dirty="0"/>
          </a:p>
          <a:p>
            <a:pPr marL="0" indent="0">
              <a:buNone/>
            </a:pP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No usar </a:t>
            </a:r>
            <a:r>
              <a:rPr lang="es-419" sz="1000" noProof="0" dirty="0" err="1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</a:t>
            </a: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externas.</a:t>
            </a:r>
            <a:endParaRPr lang="es-419" sz="1000" noProof="0" dirty="0"/>
          </a:p>
          <a:p>
            <a:pPr marL="0" indent="0">
              <a:buNone/>
            </a:pPr>
            <a:r>
              <a:rPr lang="es-419" sz="1000" noProof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s-419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100" b="1" kern="0" spc="300" noProof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s-419" sz="11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64008" cy="65836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484632" y="80467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419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978408" y="8046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buen contexto</a:t>
            </a:r>
            <a:endParaRPr lang="es-419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64008" cy="65836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4919472" y="80467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419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5413248" y="8046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la respuesta como propuesta, no como solución</a:t>
            </a:r>
            <a:endParaRPr lang="es-419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Shape 11"/>
          <p:cNvSpPr/>
          <p:nvPr/>
        </p:nvSpPr>
        <p:spPr>
          <a:xfrm>
            <a:off x="320040" y="1609344"/>
            <a:ext cx="64008" cy="658368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484632" y="160934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419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978408" y="1609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antes de aceptar cualquier sugerencia</a:t>
            </a:r>
            <a:endParaRPr lang="es-419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754880" y="1609344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5"/>
          <p:cNvSpPr/>
          <p:nvPr/>
        </p:nvSpPr>
        <p:spPr>
          <a:xfrm>
            <a:off x="4754880" y="1609344"/>
            <a:ext cx="64008" cy="658368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4919472" y="160934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419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5413248" y="1609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r>
              <a:rPr lang="es-419" sz="12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específicos y detallados</a:t>
            </a:r>
            <a:endParaRPr lang="es-419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320040" y="2414016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64008" cy="658368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Text 20"/>
          <p:cNvSpPr/>
          <p:nvPr/>
        </p:nvSpPr>
        <p:spPr>
          <a:xfrm>
            <a:off x="484632" y="241401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419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978408" y="24140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explicaciones del código generado</a:t>
            </a:r>
            <a:endParaRPr lang="es-419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4754880" y="2414016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Shape 23"/>
          <p:cNvSpPr/>
          <p:nvPr/>
        </p:nvSpPr>
        <p:spPr>
          <a:xfrm>
            <a:off x="4754880" y="2414016"/>
            <a:ext cx="64008" cy="658368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Text 24"/>
          <p:cNvSpPr/>
          <p:nvPr/>
        </p:nvSpPr>
        <p:spPr>
          <a:xfrm>
            <a:off x="4919472" y="241401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419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5413248" y="24140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Usarlo para tareas repetitivas, no para diseño</a:t>
            </a:r>
            <a:endParaRPr lang="es-419" sz="1200" noProof="0" dirty="0"/>
          </a:p>
        </p:txBody>
      </p:sp>
      <p:sp>
        <p:nvSpPr>
          <p:cNvPr id="28" name="Shape 26"/>
          <p:cNvSpPr/>
          <p:nvPr/>
        </p:nvSpPr>
        <p:spPr>
          <a:xfrm>
            <a:off x="320040" y="3218688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Shape 27"/>
          <p:cNvSpPr/>
          <p:nvPr/>
        </p:nvSpPr>
        <p:spPr>
          <a:xfrm>
            <a:off x="320040" y="3218688"/>
            <a:ext cx="64008" cy="65836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8"/>
          <p:cNvSpPr/>
          <p:nvPr/>
        </p:nvSpPr>
        <p:spPr>
          <a:xfrm>
            <a:off x="484632" y="32186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s-419" sz="1600" noProof="0" dirty="0"/>
          </a:p>
        </p:txBody>
      </p:sp>
      <p:sp>
        <p:nvSpPr>
          <p:cNvPr id="31" name="Text 29"/>
          <p:cNvSpPr/>
          <p:nvPr/>
        </p:nvSpPr>
        <p:spPr>
          <a:xfrm>
            <a:off x="978408" y="32186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seguridad del código generado</a:t>
            </a:r>
            <a:endParaRPr lang="es-419" sz="1200" noProof="0" dirty="0"/>
          </a:p>
        </p:txBody>
      </p:sp>
      <p:sp>
        <p:nvSpPr>
          <p:cNvPr id="32" name="Shape 30"/>
          <p:cNvSpPr/>
          <p:nvPr/>
        </p:nvSpPr>
        <p:spPr>
          <a:xfrm>
            <a:off x="4754880" y="3218688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Shape 31"/>
          <p:cNvSpPr/>
          <p:nvPr/>
        </p:nvSpPr>
        <p:spPr>
          <a:xfrm>
            <a:off x="4754880" y="3218688"/>
            <a:ext cx="64008" cy="65836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4" name="Text 32"/>
          <p:cNvSpPr/>
          <p:nvPr/>
        </p:nvSpPr>
        <p:spPr>
          <a:xfrm>
            <a:off x="4919472" y="32186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s-419" sz="1600" noProof="0" dirty="0"/>
          </a:p>
        </p:txBody>
      </p:sp>
      <p:sp>
        <p:nvSpPr>
          <p:cNvPr id="35" name="Text 33"/>
          <p:cNvSpPr/>
          <p:nvPr/>
        </p:nvSpPr>
        <p:spPr>
          <a:xfrm>
            <a:off x="5413248" y="32186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compartir información sensible ni propietaria</a:t>
            </a:r>
            <a:endParaRPr lang="es-419" sz="1200" noProof="0" dirty="0"/>
          </a:p>
        </p:txBody>
      </p:sp>
      <p:sp>
        <p:nvSpPr>
          <p:cNvPr id="36" name="Shape 34"/>
          <p:cNvSpPr/>
          <p:nvPr/>
        </p:nvSpPr>
        <p:spPr>
          <a:xfrm>
            <a:off x="320040" y="4023360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7" name="Shape 35"/>
          <p:cNvSpPr/>
          <p:nvPr/>
        </p:nvSpPr>
        <p:spPr>
          <a:xfrm>
            <a:off x="320040" y="4023360"/>
            <a:ext cx="64008" cy="658368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8" name="Text 36"/>
          <p:cNvSpPr/>
          <p:nvPr/>
        </p:nvSpPr>
        <p:spPr>
          <a:xfrm>
            <a:off x="484632" y="40233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s-419" sz="1600" noProof="0" dirty="0"/>
          </a:p>
        </p:txBody>
      </p:sp>
      <p:sp>
        <p:nvSpPr>
          <p:cNvPr id="39" name="Text 37"/>
          <p:cNvSpPr/>
          <p:nvPr/>
        </p:nvSpPr>
        <p:spPr>
          <a:xfrm>
            <a:off x="978408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arquitectura clara y documentada</a:t>
            </a:r>
            <a:endParaRPr lang="es-419" sz="1200" noProof="0" dirty="0"/>
          </a:p>
        </p:txBody>
      </p:sp>
      <p:sp>
        <p:nvSpPr>
          <p:cNvPr id="40" name="Shape 38"/>
          <p:cNvSpPr/>
          <p:nvPr/>
        </p:nvSpPr>
        <p:spPr>
          <a:xfrm>
            <a:off x="4754880" y="4023360"/>
            <a:ext cx="4114800" cy="65836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41" name="Shape 39"/>
          <p:cNvSpPr/>
          <p:nvPr/>
        </p:nvSpPr>
        <p:spPr>
          <a:xfrm>
            <a:off x="4754880" y="4023360"/>
            <a:ext cx="64008" cy="658368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42" name="Text 40"/>
          <p:cNvSpPr/>
          <p:nvPr/>
        </p:nvSpPr>
        <p:spPr>
          <a:xfrm>
            <a:off x="4919472" y="40233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600" b="1" noProof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s-419" sz="1600" noProof="0" dirty="0"/>
          </a:p>
        </p:txBody>
      </p:sp>
      <p:sp>
        <p:nvSpPr>
          <p:cNvPr id="43" name="Text 41"/>
          <p:cNvSpPr/>
          <p:nvPr/>
        </p:nvSpPr>
        <p:spPr>
          <a:xfrm>
            <a:off x="5413248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IA para acelerar, no para pensar menos</a:t>
            </a:r>
            <a:endParaRPr lang="es-419" sz="12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C0139-533C-ACA1-14A3-8FF41F31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5">
            <a:extLst>
              <a:ext uri="{FF2B5EF4-FFF2-40B4-BE49-F238E27FC236}">
                <a16:creationId xmlns:a16="http://schemas.microsoft.com/office/drawing/2014/main" id="{0AF14907-AC09-FAA3-2AD6-387F3E9589AC}"/>
              </a:ext>
            </a:extLst>
          </p:cNvPr>
          <p:cNvSpPr>
            <a:spLocks/>
          </p:cNvSpPr>
          <p:nvPr/>
        </p:nvSpPr>
        <p:spPr>
          <a:xfrm>
            <a:off x="330669" y="2867356"/>
            <a:ext cx="4241331" cy="1507526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EAEB18D-4C14-FEF1-78B7-60FA8E6F221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0648CA-4B2B-27F8-8A5F-D046C9463FC5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DE USO EN VS CODE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786207-12CE-048D-F48A-BD294B1E4278}"/>
              </a:ext>
            </a:extLst>
          </p:cNvPr>
          <p:cNvSpPr txBox="1"/>
          <p:nvPr/>
        </p:nvSpPr>
        <p:spPr>
          <a:xfrm>
            <a:off x="262520" y="1274921"/>
            <a:ext cx="3055841" cy="1448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aceptar sugerencias se puede usar la tecla </a:t>
            </a:r>
            <a:r>
              <a:rPr lang="es-419" sz="1200" dirty="0"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r>
              <a:rPr lang="es-419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la </a:t>
            </a:r>
            <a:r>
              <a:rPr lang="es-419" sz="1200" dirty="0"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flecha derecha </a:t>
            </a: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centralizada de usuarios.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419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sugerencias tecla </a:t>
            </a:r>
            <a:r>
              <a:rPr lang="es-419" sz="1200" dirty="0"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419" sz="1200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D5DF3F-FFCD-4C8C-11F5-D250BA12AB42}"/>
              </a:ext>
            </a:extLst>
          </p:cNvPr>
          <p:cNvSpPr txBox="1"/>
          <p:nvPr/>
        </p:nvSpPr>
        <p:spPr>
          <a:xfrm>
            <a:off x="804780" y="969936"/>
            <a:ext cx="1630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Y" sz="1400" b="1" noProof="0" dirty="0" err="1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Inline</a:t>
            </a:r>
            <a:r>
              <a:rPr lang="es-UY" sz="1400" b="1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UY" sz="1400" b="1" noProof="0" dirty="0" err="1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Suggestions</a:t>
            </a:r>
            <a:endParaRPr lang="es-419" sz="1400" b="1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488E1B-730E-41ED-A4C8-39F94FD37D3B}"/>
              </a:ext>
            </a:extLst>
          </p:cNvPr>
          <p:cNvSpPr txBox="1"/>
          <p:nvPr/>
        </p:nvSpPr>
        <p:spPr>
          <a:xfrm>
            <a:off x="5388542" y="1180811"/>
            <a:ext cx="3055841" cy="338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Subrayar el código a consultar y hacer </a:t>
            </a:r>
            <a:r>
              <a:rPr lang="es-419" sz="1200" dirty="0" err="1"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Ctrl+Shift+P</a:t>
            </a:r>
            <a:r>
              <a:rPr lang="es-419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419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abrir la paleta, escribir </a:t>
            </a:r>
            <a:r>
              <a:rPr lang="es-419" sz="1200" dirty="0" err="1"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419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van a aparecer los distintos comandos disponibles. </a:t>
            </a:r>
          </a:p>
          <a:p>
            <a:pPr>
              <a:lnSpc>
                <a:spcPct val="150000"/>
              </a:lnSpc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comandos útiles: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noProof="0" dirty="0">
                <a:highlight>
                  <a:srgbClr val="C0C0C0"/>
                </a:highlight>
              </a:rPr>
              <a:t>/</a:t>
            </a:r>
            <a:r>
              <a:rPr lang="es-MX" sz="1200" noProof="0" dirty="0" err="1">
                <a:highlight>
                  <a:srgbClr val="C0C0C0"/>
                </a:highlight>
              </a:rPr>
              <a:t>explain</a:t>
            </a:r>
            <a:r>
              <a:rPr lang="es-MX" sz="1200" noProof="0" dirty="0">
                <a:solidFill>
                  <a:schemeClr val="bg2"/>
                </a:solidFill>
              </a:rPr>
              <a:t>→ Explica el código seleccionado.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noProof="0" dirty="0">
                <a:highlight>
                  <a:srgbClr val="C0C0C0"/>
                </a:highlight>
              </a:rPr>
              <a:t>/</a:t>
            </a:r>
            <a:r>
              <a:rPr lang="es-MX" sz="1200" noProof="0" dirty="0" err="1">
                <a:highlight>
                  <a:srgbClr val="C0C0C0"/>
                </a:highlight>
              </a:rPr>
              <a:t>suggest</a:t>
            </a:r>
            <a:r>
              <a:rPr lang="es-MX" sz="1200" noProof="0" dirty="0">
                <a:solidFill>
                  <a:schemeClr val="bg2"/>
                </a:solidFill>
              </a:rPr>
              <a:t>→ Sugiere código según el contexto actual.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noProof="0" dirty="0">
                <a:highlight>
                  <a:srgbClr val="C0C0C0"/>
                </a:highlight>
              </a:rPr>
              <a:t>/</a:t>
            </a:r>
            <a:r>
              <a:rPr lang="es-MX" sz="1200" noProof="0" dirty="0" err="1">
                <a:highlight>
                  <a:srgbClr val="C0C0C0"/>
                </a:highlight>
              </a:rPr>
              <a:t>tests</a:t>
            </a:r>
            <a:r>
              <a:rPr lang="es-MX" sz="1200" noProof="0" dirty="0">
                <a:solidFill>
                  <a:schemeClr val="bg2"/>
                </a:solidFill>
              </a:rPr>
              <a:t>→ Genera </a:t>
            </a:r>
            <a:r>
              <a:rPr lang="es-MX" sz="1200" noProof="0" dirty="0" err="1">
                <a:solidFill>
                  <a:schemeClr val="bg2"/>
                </a:solidFill>
              </a:rPr>
              <a:t>tests</a:t>
            </a:r>
            <a:r>
              <a:rPr lang="es-MX" sz="1200" noProof="0" dirty="0">
                <a:solidFill>
                  <a:schemeClr val="bg2"/>
                </a:solidFill>
              </a:rPr>
              <a:t> unitarios para la función o clase seleccionada.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200" noProof="0" dirty="0">
                <a:highlight>
                  <a:srgbClr val="C0C0C0"/>
                </a:highlight>
              </a:rPr>
              <a:t>/</a:t>
            </a:r>
            <a:r>
              <a:rPr lang="es-MX" sz="1200" noProof="0" dirty="0" err="1">
                <a:highlight>
                  <a:srgbClr val="C0C0C0"/>
                </a:highlight>
              </a:rPr>
              <a:t>comment</a:t>
            </a:r>
            <a:r>
              <a:rPr lang="es-MX" sz="1200" noProof="0" dirty="0">
                <a:solidFill>
                  <a:schemeClr val="bg2"/>
                </a:solidFill>
              </a:rPr>
              <a:t>→ Convierte comentarios en fragmentos de código.</a:t>
            </a:r>
            <a:endParaRPr lang="es-419" sz="1200" noProof="0" dirty="0">
              <a:solidFill>
                <a:schemeClr val="bg2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96B6E0E-9EDF-4EB2-A466-12A0AB9D216D}"/>
              </a:ext>
            </a:extLst>
          </p:cNvPr>
          <p:cNvSpPr txBox="1"/>
          <p:nvPr/>
        </p:nvSpPr>
        <p:spPr>
          <a:xfrm>
            <a:off x="5721923" y="875826"/>
            <a:ext cx="2389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Y" sz="1400" b="1" noProof="0" dirty="0" err="1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Command</a:t>
            </a:r>
            <a:r>
              <a:rPr lang="es-UY" sz="1400" b="1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UY" sz="1400" b="1" noProof="0" dirty="0" err="1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palette</a:t>
            </a:r>
            <a:r>
              <a:rPr lang="es-UY" sz="1400" b="1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 VS Code</a:t>
            </a:r>
          </a:p>
          <a:p>
            <a:endParaRPr lang="es-419" sz="1400" b="1" noProof="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EA1A46D-95B7-F068-9B74-323B7270EEF2}"/>
              </a:ext>
            </a:extLst>
          </p:cNvPr>
          <p:cNvSpPr txBox="1"/>
          <p:nvPr/>
        </p:nvSpPr>
        <p:spPr>
          <a:xfrm>
            <a:off x="262520" y="451858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>
                <a:solidFill>
                  <a:schemeClr val="accent3"/>
                </a:solidFill>
                <a:hlinkClick r:id="rId3"/>
              </a:rPr>
              <a:t>Link para mas información sobre integración de </a:t>
            </a:r>
            <a:r>
              <a:rPr lang="es-419" sz="1200" dirty="0" err="1">
                <a:solidFill>
                  <a:schemeClr val="accent3"/>
                </a:solidFill>
                <a:hlinkClick r:id="rId3"/>
              </a:rPr>
              <a:t>Copilot</a:t>
            </a:r>
            <a:r>
              <a:rPr lang="es-419" sz="1200" dirty="0">
                <a:solidFill>
                  <a:schemeClr val="accent3"/>
                </a:solidFill>
                <a:hlinkClick r:id="rId3"/>
              </a:rPr>
              <a:t> en VS Code</a:t>
            </a:r>
            <a:endParaRPr lang="es-419" sz="1200" dirty="0">
              <a:solidFill>
                <a:schemeClr val="accent3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CCF41C4-656A-EDD5-E029-7CB054FFACCE}"/>
              </a:ext>
            </a:extLst>
          </p:cNvPr>
          <p:cNvSpPr txBox="1"/>
          <p:nvPr/>
        </p:nvSpPr>
        <p:spPr>
          <a:xfrm>
            <a:off x="433909" y="3041474"/>
            <a:ext cx="2540905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UY" sz="1400" b="1" noProof="0" dirty="0">
                <a:solidFill>
                  <a:schemeClr val="bg1"/>
                </a:solidFill>
              </a:rPr>
              <a:t>Tutorial paso a paso interactivo en </a:t>
            </a:r>
            <a:r>
              <a:rPr lang="es-UY" sz="1400" b="1" noProof="0" dirty="0" err="1">
                <a:solidFill>
                  <a:schemeClr val="bg1"/>
                </a:solidFill>
              </a:rPr>
              <a:t>Codespaces</a:t>
            </a:r>
            <a:endParaRPr lang="es-419" sz="1400" b="1" noProof="0" dirty="0">
              <a:solidFill>
                <a:schemeClr val="bg1"/>
              </a:solidFill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2A96671-8622-DB92-CEA7-E7C4FA50D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186" y="3016897"/>
            <a:ext cx="1208443" cy="120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82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EDDFA-F2D3-52B4-5E81-D58A1B2B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683D3D-45E5-5127-D6A8-7DAC1BEB795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F1DCF6-F3F4-B659-60BB-BC4B7DC97202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4123C4-4A46-3351-98DC-6C1A1F950E0C}"/>
              </a:ext>
            </a:extLst>
          </p:cNvPr>
          <p:cNvSpPr txBox="1"/>
          <p:nvPr/>
        </p:nvSpPr>
        <p:spPr>
          <a:xfrm>
            <a:off x="189848" y="1056497"/>
            <a:ext cx="6906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se diferencian:</a:t>
            </a:r>
            <a:endParaRPr lang="es-419" sz="1400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259450-BF20-44FF-7B44-8442F840B49B}"/>
              </a:ext>
            </a:extLst>
          </p:cNvPr>
          <p:cNvSpPr txBox="1"/>
          <p:nvPr/>
        </p:nvSpPr>
        <p:spPr>
          <a:xfrm>
            <a:off x="589044" y="1473049"/>
            <a:ext cx="6906518" cy="199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uso.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modelos avanzados.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Funciones de administración.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Controles de seguridad.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organizaciones o empresas.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4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según el código interno de una organización.</a:t>
            </a:r>
            <a:endParaRPr lang="es-419" sz="1400" noProof="0" dirty="0"/>
          </a:p>
        </p:txBody>
      </p:sp>
    </p:spTree>
    <p:extLst>
      <p:ext uri="{BB962C8B-B14F-4D97-AF65-F5344CB8AC3E}">
        <p14:creationId xmlns:p14="http://schemas.microsoft.com/office/powerpoint/2010/main" val="395668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47EE4-BD5A-4DDB-FC11-D01FC404D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C27887-A131-0704-898D-1814CDE4978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D414A4-0B1F-05C8-593C-759D61813323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B1E3DAA8-1A1A-6091-6B23-9EE7675A9BDB}"/>
              </a:ext>
            </a:extLst>
          </p:cNvPr>
          <p:cNvSpPr/>
          <p:nvPr/>
        </p:nvSpPr>
        <p:spPr>
          <a:xfrm>
            <a:off x="3845796" y="1087389"/>
            <a:ext cx="145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PERSONAL</a:t>
            </a:r>
            <a:endParaRPr lang="es-419" sz="1400" noProof="0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1E7652A-1642-FBDB-AA84-8F18A0111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492524"/>
              </p:ext>
            </p:extLst>
          </p:nvPr>
        </p:nvGraphicFramePr>
        <p:xfrm>
          <a:off x="810747" y="1642396"/>
          <a:ext cx="7522506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55">
                  <a:extLst>
                    <a:ext uri="{9D8B030D-6E8A-4147-A177-3AD203B41FA5}">
                      <a16:colId xmlns:a16="http://schemas.microsoft.com/office/drawing/2014/main" val="2298966124"/>
                    </a:ext>
                  </a:extLst>
                </a:gridCol>
                <a:gridCol w="1430312">
                  <a:extLst>
                    <a:ext uri="{9D8B030D-6E8A-4147-A177-3AD203B41FA5}">
                      <a16:colId xmlns:a16="http://schemas.microsoft.com/office/drawing/2014/main" val="3392409206"/>
                    </a:ext>
                  </a:extLst>
                </a:gridCol>
                <a:gridCol w="1440469">
                  <a:extLst>
                    <a:ext uri="{9D8B030D-6E8A-4147-A177-3AD203B41FA5}">
                      <a16:colId xmlns:a16="http://schemas.microsoft.com/office/drawing/2014/main" val="2068350817"/>
                    </a:ext>
                  </a:extLst>
                </a:gridCol>
                <a:gridCol w="2087870">
                  <a:extLst>
                    <a:ext uri="{9D8B030D-6E8A-4147-A177-3AD203B41FA5}">
                      <a16:colId xmlns:a16="http://schemas.microsoft.com/office/drawing/2014/main" val="3194182044"/>
                    </a:ext>
                  </a:extLst>
                </a:gridCol>
              </a:tblGrid>
              <a:tr h="230338">
                <a:tc>
                  <a:txBody>
                    <a:bodyPr/>
                    <a:lstStyle/>
                    <a:p>
                      <a:pPr algn="ctr"/>
                      <a:endParaRPr lang="es-419" sz="12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400" b="1" noProof="0" dirty="0">
                          <a:solidFill>
                            <a:schemeClr val="bg1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400" b="1" noProof="0" dirty="0">
                          <a:solidFill>
                            <a:schemeClr val="bg1"/>
                          </a:solidFill>
                        </a:rPr>
                        <a:t>Pro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400" b="1" noProof="0" dirty="0">
                          <a:solidFill>
                            <a:schemeClr val="bg1"/>
                          </a:solidFill>
                        </a:rPr>
                        <a:t>Pro+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83658"/>
                  </a:ext>
                </a:extLst>
              </a:tr>
              <a:tr h="358304">
                <a:tc>
                  <a:txBody>
                    <a:bodyPr/>
                    <a:lstStyle/>
                    <a:p>
                      <a:r>
                        <a:rPr lang="es-419" sz="1200" b="1" noProof="0" dirty="0">
                          <a:solidFill>
                            <a:schemeClr val="bg1"/>
                          </a:solidFill>
                        </a:rPr>
                        <a:t>Sugerencias en IDE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  <a:effectLst/>
                        </a:rPr>
                        <a:t>2.000 por mes</a:t>
                      </a:r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Sugerencias ilimitadas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Sugerencias ilimitadas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59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200" b="1" noProof="0" dirty="0">
                          <a:solidFill>
                            <a:schemeClr val="bg1"/>
                          </a:solidFill>
                          <a:effectLst/>
                        </a:rPr>
                        <a:t>Solicitudes premium </a:t>
                      </a:r>
                      <a:endParaRPr lang="es-419" sz="12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0" noProof="0" dirty="0">
                          <a:solidFill>
                            <a:schemeClr val="bg1"/>
                          </a:solidFill>
                          <a:effectLst/>
                        </a:rPr>
                        <a:t>50 por mes</a:t>
                      </a:r>
                      <a:endParaRPr lang="es-419" sz="1200" b="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0" noProof="0" dirty="0">
                          <a:solidFill>
                            <a:schemeClr val="bg1"/>
                          </a:solidFill>
                          <a:effectLst/>
                        </a:rPr>
                        <a:t>300 por mes</a:t>
                      </a:r>
                      <a:endParaRPr lang="es-419" sz="1200" b="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0" noProof="0" dirty="0">
                          <a:solidFill>
                            <a:schemeClr val="bg1"/>
                          </a:solidFill>
                          <a:effectLst/>
                        </a:rPr>
                        <a:t>1.500 por mes</a:t>
                      </a:r>
                      <a:endParaRPr lang="es-419" sz="1200" b="0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12719"/>
                  </a:ext>
                </a:extLst>
              </a:tr>
              <a:tr h="217541">
                <a:tc>
                  <a:txBody>
                    <a:bodyPr/>
                    <a:lstStyle/>
                    <a:p>
                      <a:r>
                        <a:rPr lang="es-419" sz="1200" b="1" noProof="0" dirty="0">
                          <a:solidFill>
                            <a:schemeClr val="bg1"/>
                          </a:solidFill>
                        </a:rPr>
                        <a:t>Cloud Agent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780296"/>
                  </a:ext>
                </a:extLst>
              </a:tr>
              <a:tr h="217541">
                <a:tc>
                  <a:txBody>
                    <a:bodyPr/>
                    <a:lstStyle/>
                    <a:p>
                      <a:r>
                        <a:rPr lang="es-419" sz="1200" b="1" noProof="0" dirty="0">
                          <a:solidFill>
                            <a:schemeClr val="bg1"/>
                          </a:solidFill>
                        </a:rPr>
                        <a:t>Modelos adicionales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Limitado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Si, ilimitado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229489"/>
                  </a:ext>
                </a:extLst>
              </a:tr>
              <a:tr h="217541">
                <a:tc>
                  <a:txBody>
                    <a:bodyPr/>
                    <a:lstStyle/>
                    <a:p>
                      <a:r>
                        <a:rPr lang="es-419" sz="1200" b="1" noProof="0" dirty="0">
                          <a:solidFill>
                            <a:schemeClr val="bg1"/>
                          </a:solidFill>
                        </a:rPr>
                        <a:t>Revisión de código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688800"/>
                  </a:ext>
                </a:extLst>
              </a:tr>
              <a:tr h="217541">
                <a:tc>
                  <a:txBody>
                    <a:bodyPr/>
                    <a:lstStyle/>
                    <a:p>
                      <a:r>
                        <a:rPr lang="es-419" sz="1200" b="1" noProof="0" dirty="0">
                          <a:solidFill>
                            <a:schemeClr val="bg1"/>
                          </a:solidFill>
                        </a:rPr>
                        <a:t>Resumen de Pull </a:t>
                      </a:r>
                      <a:r>
                        <a:rPr lang="es-419" sz="1200" b="1" noProof="0" dirty="0" err="1">
                          <a:solidFill>
                            <a:schemeClr val="bg1"/>
                          </a:solidFill>
                        </a:rPr>
                        <a:t>Request</a:t>
                      </a:r>
                      <a:endParaRPr lang="es-419" sz="12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200" b="0" noProof="0" dirty="0">
                          <a:solidFill>
                            <a:schemeClr val="bg1"/>
                          </a:solidFill>
                        </a:rPr>
                        <a:t>Si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468719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0F84DFFE-C624-B11F-0404-E84FDE7913AE}"/>
              </a:ext>
            </a:extLst>
          </p:cNvPr>
          <p:cNvSpPr txBox="1"/>
          <p:nvPr/>
        </p:nvSpPr>
        <p:spPr>
          <a:xfrm>
            <a:off x="719307" y="3859980"/>
            <a:ext cx="7522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noProof="0" dirty="0">
                <a:solidFill>
                  <a:schemeClr val="bg2">
                    <a:lumMod val="75000"/>
                  </a:schemeClr>
                </a:solidFill>
              </a:rPr>
              <a:t>1 de junio de 2026 </a:t>
            </a:r>
            <a:r>
              <a:rPr lang="es-419" sz="1200" noProof="0" dirty="0" err="1">
                <a:solidFill>
                  <a:schemeClr val="bg2">
                    <a:lumMod val="75000"/>
                  </a:schemeClr>
                </a:solidFill>
              </a:rPr>
              <a:t>Copilot</a:t>
            </a:r>
            <a:r>
              <a:rPr lang="es-419" sz="1200" noProof="0" dirty="0">
                <a:solidFill>
                  <a:schemeClr val="bg2">
                    <a:lumMod val="75000"/>
                  </a:schemeClr>
                </a:solidFill>
              </a:rPr>
              <a:t> pasará de “premium </a:t>
            </a:r>
            <a:r>
              <a:rPr lang="es-419" sz="1200" noProof="0" dirty="0" err="1">
                <a:solidFill>
                  <a:schemeClr val="bg2">
                    <a:lumMod val="75000"/>
                  </a:schemeClr>
                </a:solidFill>
              </a:rPr>
              <a:t>requests</a:t>
            </a:r>
            <a:r>
              <a:rPr lang="es-419" sz="1200" noProof="0" dirty="0">
                <a:solidFill>
                  <a:schemeClr val="bg2">
                    <a:lumMod val="75000"/>
                  </a:schemeClr>
                </a:solidFill>
              </a:rPr>
              <a:t>” a un sistema basado en AI </a:t>
            </a:r>
            <a:r>
              <a:rPr lang="es-419" sz="1200" noProof="0" dirty="0" err="1">
                <a:solidFill>
                  <a:schemeClr val="bg2">
                    <a:lumMod val="75000"/>
                  </a:schemeClr>
                </a:solidFill>
              </a:rPr>
              <a:t>credits</a:t>
            </a:r>
            <a:r>
              <a:rPr lang="es-419" sz="1200" noProof="0" dirty="0">
                <a:solidFill>
                  <a:schemeClr val="bg2">
                    <a:lumMod val="75000"/>
                  </a:schemeClr>
                </a:solidFill>
              </a:rPr>
              <a:t>, por lo que los límites pueden cambiar</a:t>
            </a:r>
          </a:p>
        </p:txBody>
      </p:sp>
    </p:spTree>
    <p:extLst>
      <p:ext uri="{BB962C8B-B14F-4D97-AF65-F5344CB8AC3E}">
        <p14:creationId xmlns:p14="http://schemas.microsoft.com/office/powerpoint/2010/main" val="1534014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A19BB-AD51-12EF-9FA1-E62B8C0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7E0FD2-D8B0-5447-7A1F-2A9F41E19B3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F97983-09AD-4076-44EA-D1AC93A5AC8C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00" b="1" kern="0" spc="300" noProof="0" dirty="0">
                <a:solidFill>
                  <a:srgbClr val="9D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s-419" sz="1400" noProof="0" dirty="0">
              <a:solidFill>
                <a:srgbClr val="9DBAED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9CC55F-53D6-21E6-0C55-BEA31D9AC54F}"/>
              </a:ext>
            </a:extLst>
          </p:cNvPr>
          <p:cNvSpPr/>
          <p:nvPr/>
        </p:nvSpPr>
        <p:spPr>
          <a:xfrm>
            <a:off x="3387479" y="1177586"/>
            <a:ext cx="16585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ORGANIZACIONALES</a:t>
            </a:r>
            <a:endParaRPr lang="es-419" sz="1400" noProof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2D8E82-85A2-A5A5-A215-6DEA87ADE7FD}"/>
              </a:ext>
            </a:extLst>
          </p:cNvPr>
          <p:cNvSpPr txBox="1"/>
          <p:nvPr/>
        </p:nvSpPr>
        <p:spPr>
          <a:xfrm>
            <a:off x="1240715" y="2370075"/>
            <a:ext cx="3055841" cy="117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equipos y organizaciones.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Administración centralizada de usuarios.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Políticas de seguridad y uso.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y configuración. </a:t>
            </a:r>
            <a:endParaRPr lang="es-419" sz="1200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446133-20C3-1319-421F-E0EE13B27D35}"/>
              </a:ext>
            </a:extLst>
          </p:cNvPr>
          <p:cNvSpPr txBox="1"/>
          <p:nvPr/>
        </p:nvSpPr>
        <p:spPr>
          <a:xfrm>
            <a:off x="4480560" y="2362653"/>
            <a:ext cx="4108513" cy="117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Pensado para empresas grandes.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Más funciones de seguridad, gobernanza y administración.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Mayor acceso a capacidades avanzadas de IA.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200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 Mejor integración con el contexto de la organización.</a:t>
            </a:r>
            <a:endParaRPr lang="es-419" sz="1200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F1F6E92-44AA-B813-9473-8C36DC2F5706}"/>
              </a:ext>
            </a:extLst>
          </p:cNvPr>
          <p:cNvSpPr txBox="1"/>
          <p:nvPr/>
        </p:nvSpPr>
        <p:spPr>
          <a:xfrm>
            <a:off x="1984994" y="2054876"/>
            <a:ext cx="1202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b="1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Business</a:t>
            </a:r>
            <a:endParaRPr lang="es-419" sz="1400" b="1" noProof="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575F8D5-8693-F5F5-7E0A-A1B11F5AB863}"/>
              </a:ext>
            </a:extLst>
          </p:cNvPr>
          <p:cNvSpPr txBox="1"/>
          <p:nvPr/>
        </p:nvSpPr>
        <p:spPr>
          <a:xfrm>
            <a:off x="5933446" y="2050846"/>
            <a:ext cx="1202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b="1" noProof="0" dirty="0">
                <a:solidFill>
                  <a:srgbClr val="C9D1D9"/>
                </a:solidFill>
                <a:ea typeface="Calibri" pitchFamily="34" charset="-122"/>
                <a:cs typeface="Calibri" pitchFamily="34" charset="-120"/>
              </a:rPr>
              <a:t>Enterprise</a:t>
            </a:r>
            <a:endParaRPr lang="es-419" sz="1400" b="1" noProof="0" dirty="0"/>
          </a:p>
        </p:txBody>
      </p:sp>
    </p:spTree>
    <p:extLst>
      <p:ext uri="{BB962C8B-B14F-4D97-AF65-F5344CB8AC3E}">
        <p14:creationId xmlns:p14="http://schemas.microsoft.com/office/powerpoint/2010/main" val="3608751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Shape 4"/>
          <p:cNvSpPr/>
          <p:nvPr/>
        </p:nvSpPr>
        <p:spPr>
          <a:xfrm>
            <a:off x="59436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59436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59436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59436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Shape 11"/>
          <p:cNvSpPr/>
          <p:nvPr/>
        </p:nvSpPr>
        <p:spPr>
          <a:xfrm>
            <a:off x="91440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Shape 12"/>
          <p:cNvSpPr/>
          <p:nvPr/>
        </p:nvSpPr>
        <p:spPr>
          <a:xfrm>
            <a:off x="123444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Shape 13"/>
          <p:cNvSpPr/>
          <p:nvPr/>
        </p:nvSpPr>
        <p:spPr>
          <a:xfrm>
            <a:off x="123444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Shape 14"/>
          <p:cNvSpPr/>
          <p:nvPr/>
        </p:nvSpPr>
        <p:spPr>
          <a:xfrm>
            <a:off x="123444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5"/>
          <p:cNvSpPr/>
          <p:nvPr/>
        </p:nvSpPr>
        <p:spPr>
          <a:xfrm>
            <a:off x="123444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Shape 16"/>
          <p:cNvSpPr/>
          <p:nvPr/>
        </p:nvSpPr>
        <p:spPr>
          <a:xfrm>
            <a:off x="155448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9" name="Shape 17"/>
          <p:cNvSpPr/>
          <p:nvPr/>
        </p:nvSpPr>
        <p:spPr>
          <a:xfrm>
            <a:off x="155448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Shape 18"/>
          <p:cNvSpPr/>
          <p:nvPr/>
        </p:nvSpPr>
        <p:spPr>
          <a:xfrm>
            <a:off x="155448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Shape 19"/>
          <p:cNvSpPr/>
          <p:nvPr/>
        </p:nvSpPr>
        <p:spPr>
          <a:xfrm>
            <a:off x="155448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Shape 20"/>
          <p:cNvSpPr/>
          <p:nvPr/>
        </p:nvSpPr>
        <p:spPr>
          <a:xfrm>
            <a:off x="187452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Shape 21"/>
          <p:cNvSpPr/>
          <p:nvPr/>
        </p:nvSpPr>
        <p:spPr>
          <a:xfrm>
            <a:off x="187452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Shape 22"/>
          <p:cNvSpPr/>
          <p:nvPr/>
        </p:nvSpPr>
        <p:spPr>
          <a:xfrm>
            <a:off x="187452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Shape 23"/>
          <p:cNvSpPr/>
          <p:nvPr/>
        </p:nvSpPr>
        <p:spPr>
          <a:xfrm>
            <a:off x="187452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Shape 24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548640"/>
            <a:ext cx="1554480" cy="15544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i="1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s-419" sz="1400" noProof="0" dirty="0"/>
          </a:p>
        </p:txBody>
      </p:sp>
      <p:sp>
        <p:nvSpPr>
          <p:cNvPr id="29" name="Text 26"/>
          <p:cNvSpPr/>
          <p:nvPr/>
        </p:nvSpPr>
        <p:spPr>
          <a:xfrm>
            <a:off x="457200" y="2788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3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s-419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herramienta,</a:t>
            </a:r>
            <a:endParaRPr lang="es-419" sz="3600" noProof="0" dirty="0"/>
          </a:p>
          <a:p>
            <a:pPr marL="0" indent="0" algn="ctr">
              <a:buNone/>
            </a:pPr>
            <a:r>
              <a:rPr lang="es-419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reemplazo.</a:t>
            </a:r>
            <a:endParaRPr lang="es-419" sz="3600" noProof="0" dirty="0"/>
          </a:p>
        </p:txBody>
      </p:sp>
      <p:sp>
        <p:nvSpPr>
          <p:cNvPr id="30" name="Shape 27"/>
          <p:cNvSpPr/>
          <p:nvPr/>
        </p:nvSpPr>
        <p:spPr>
          <a:xfrm>
            <a:off x="2743200" y="3913632"/>
            <a:ext cx="3657600" cy="365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1" name="Text 28"/>
          <p:cNvSpPr/>
          <p:nvPr/>
        </p:nvSpPr>
        <p:spPr>
          <a:xfrm>
            <a:off x="914400" y="4005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i="1" noProof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técnico sigue siendo humano.</a:t>
            </a:r>
            <a:endParaRPr lang="es-419" sz="1400" noProof="0" dirty="0"/>
          </a:p>
        </p:txBody>
      </p:sp>
      <p:sp>
        <p:nvSpPr>
          <p:cNvPr id="32" name="Text 29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• Fundamentos de Ingeniería de Software</a:t>
            </a:r>
            <a:endParaRPr lang="es-419" sz="10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18213-A475-E229-66EE-CB0CA04D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C0FB49-339A-1EA2-37D6-77BE319A13C0}"/>
              </a:ext>
            </a:extLst>
          </p:cNvPr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2840BD-195F-98F4-AC29-E5EFFEE3AEBA}"/>
              </a:ext>
            </a:extLst>
          </p:cNvPr>
          <p:cNvSpPr/>
          <p:nvPr/>
        </p:nvSpPr>
        <p:spPr>
          <a:xfrm>
            <a:off x="27432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4FC490-8D89-4DB6-296A-760372D5CA15}"/>
              </a:ext>
            </a:extLst>
          </p:cNvPr>
          <p:cNvSpPr/>
          <p:nvPr/>
        </p:nvSpPr>
        <p:spPr>
          <a:xfrm>
            <a:off x="27432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D35CA0E-FDC3-0E75-0560-C962AAA1016F}"/>
              </a:ext>
            </a:extLst>
          </p:cNvPr>
          <p:cNvSpPr/>
          <p:nvPr/>
        </p:nvSpPr>
        <p:spPr>
          <a:xfrm>
            <a:off x="27432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CC3BBB-83CD-B84C-EBBE-B3142C797AC0}"/>
              </a:ext>
            </a:extLst>
          </p:cNvPr>
          <p:cNvSpPr/>
          <p:nvPr/>
        </p:nvSpPr>
        <p:spPr>
          <a:xfrm>
            <a:off x="59436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FD06C4-C4AD-DFF4-4DF4-23DBB33AC600}"/>
              </a:ext>
            </a:extLst>
          </p:cNvPr>
          <p:cNvSpPr/>
          <p:nvPr/>
        </p:nvSpPr>
        <p:spPr>
          <a:xfrm>
            <a:off x="59436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DDE68B4-1485-3958-559B-8170F7081CB3}"/>
              </a:ext>
            </a:extLst>
          </p:cNvPr>
          <p:cNvSpPr/>
          <p:nvPr/>
        </p:nvSpPr>
        <p:spPr>
          <a:xfrm>
            <a:off x="59436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032C92E-246B-003A-E112-49B49FE93115}"/>
              </a:ext>
            </a:extLst>
          </p:cNvPr>
          <p:cNvSpPr/>
          <p:nvPr/>
        </p:nvSpPr>
        <p:spPr>
          <a:xfrm>
            <a:off x="59436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471BD5C-5987-8FC2-3EC6-AC052D830FF5}"/>
              </a:ext>
            </a:extLst>
          </p:cNvPr>
          <p:cNvSpPr/>
          <p:nvPr/>
        </p:nvSpPr>
        <p:spPr>
          <a:xfrm>
            <a:off x="91440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F811C9A-CF33-99D1-E5C1-6DADD90122EA}"/>
              </a:ext>
            </a:extLst>
          </p:cNvPr>
          <p:cNvSpPr/>
          <p:nvPr/>
        </p:nvSpPr>
        <p:spPr>
          <a:xfrm>
            <a:off x="91440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162C7DD-43E9-791B-E48B-3408F817AE1F}"/>
              </a:ext>
            </a:extLst>
          </p:cNvPr>
          <p:cNvSpPr/>
          <p:nvPr/>
        </p:nvSpPr>
        <p:spPr>
          <a:xfrm>
            <a:off x="91440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6C4CC1-0F9C-D732-8A99-89A28119BCCA}"/>
              </a:ext>
            </a:extLst>
          </p:cNvPr>
          <p:cNvSpPr/>
          <p:nvPr/>
        </p:nvSpPr>
        <p:spPr>
          <a:xfrm>
            <a:off x="91440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C0ADE71-CDC7-83AE-3B92-743809ECE0B6}"/>
              </a:ext>
            </a:extLst>
          </p:cNvPr>
          <p:cNvSpPr/>
          <p:nvPr/>
        </p:nvSpPr>
        <p:spPr>
          <a:xfrm>
            <a:off x="123444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FE27DCF-7164-8D90-0DAF-1990CC4C9EDA}"/>
              </a:ext>
            </a:extLst>
          </p:cNvPr>
          <p:cNvSpPr/>
          <p:nvPr/>
        </p:nvSpPr>
        <p:spPr>
          <a:xfrm>
            <a:off x="123444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8D8E07F-D21E-968D-B0E7-F39ACDC445DE}"/>
              </a:ext>
            </a:extLst>
          </p:cNvPr>
          <p:cNvSpPr/>
          <p:nvPr/>
        </p:nvSpPr>
        <p:spPr>
          <a:xfrm>
            <a:off x="123444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9E62968-68D7-5415-9670-70CD310EC4A2}"/>
              </a:ext>
            </a:extLst>
          </p:cNvPr>
          <p:cNvSpPr/>
          <p:nvPr/>
        </p:nvSpPr>
        <p:spPr>
          <a:xfrm>
            <a:off x="123444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41C814D-ECCD-F943-BD67-682673112E1A}"/>
              </a:ext>
            </a:extLst>
          </p:cNvPr>
          <p:cNvSpPr/>
          <p:nvPr/>
        </p:nvSpPr>
        <p:spPr>
          <a:xfrm>
            <a:off x="155448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E20F61A-7187-C5B8-0D3F-2E9221D503CF}"/>
              </a:ext>
            </a:extLst>
          </p:cNvPr>
          <p:cNvSpPr/>
          <p:nvPr/>
        </p:nvSpPr>
        <p:spPr>
          <a:xfrm>
            <a:off x="155448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8D5B223-1805-EB90-A714-894D98DD3EE1}"/>
              </a:ext>
            </a:extLst>
          </p:cNvPr>
          <p:cNvSpPr/>
          <p:nvPr/>
        </p:nvSpPr>
        <p:spPr>
          <a:xfrm>
            <a:off x="155448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34827EC-6F6A-BFB6-7976-25DC271A5A28}"/>
              </a:ext>
            </a:extLst>
          </p:cNvPr>
          <p:cNvSpPr/>
          <p:nvPr/>
        </p:nvSpPr>
        <p:spPr>
          <a:xfrm>
            <a:off x="155448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8DA87A1-0A82-2B85-98C6-371D96789E9E}"/>
              </a:ext>
            </a:extLst>
          </p:cNvPr>
          <p:cNvSpPr/>
          <p:nvPr/>
        </p:nvSpPr>
        <p:spPr>
          <a:xfrm>
            <a:off x="1874520" y="27432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CDF6435-9740-C793-AFEF-2B4942ACE68E}"/>
              </a:ext>
            </a:extLst>
          </p:cNvPr>
          <p:cNvSpPr/>
          <p:nvPr/>
        </p:nvSpPr>
        <p:spPr>
          <a:xfrm>
            <a:off x="1874520" y="59436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107E788-1200-E96F-A664-001C920C88B1}"/>
              </a:ext>
            </a:extLst>
          </p:cNvPr>
          <p:cNvSpPr/>
          <p:nvPr/>
        </p:nvSpPr>
        <p:spPr>
          <a:xfrm>
            <a:off x="1874520" y="91440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96B9AA0-3790-9C81-3991-62866738192F}"/>
              </a:ext>
            </a:extLst>
          </p:cNvPr>
          <p:cNvSpPr/>
          <p:nvPr/>
        </p:nvSpPr>
        <p:spPr>
          <a:xfrm>
            <a:off x="1874520" y="1234440"/>
            <a:ext cx="73152" cy="73152"/>
          </a:xfrm>
          <a:prstGeom prst="ellipse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DBDE49B-ED29-074E-0F34-D633B538AE7B}"/>
              </a:ext>
            </a:extLst>
          </p:cNvPr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8" name="Text 25">
            <a:hlinkClick r:id="rId3"/>
            <a:extLst>
              <a:ext uri="{FF2B5EF4-FFF2-40B4-BE49-F238E27FC236}">
                <a16:creationId xmlns:a16="http://schemas.microsoft.com/office/drawing/2014/main" id="{6DB7031A-30DC-644E-8090-E611568C146C}"/>
              </a:ext>
            </a:extLst>
          </p:cNvPr>
          <p:cNvSpPr/>
          <p:nvPr/>
        </p:nvSpPr>
        <p:spPr>
          <a:xfrm>
            <a:off x="914400" y="23682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400" noProof="0" dirty="0">
                <a:solidFill>
                  <a:schemeClr val="bg1"/>
                </a:solidFill>
                <a:hlinkClick r:id="rId4"/>
              </a:rPr>
              <a:t>Link a Microsoft Learn y cursos interactivos de </a:t>
            </a:r>
            <a:r>
              <a:rPr lang="es-UY" sz="1400" dirty="0">
                <a:solidFill>
                  <a:schemeClr val="bg1"/>
                </a:solidFill>
                <a:hlinkClick r:id="rId4"/>
              </a:rPr>
              <a:t>C</a:t>
            </a:r>
            <a:r>
              <a:rPr lang="es-UY" sz="1400" noProof="0" dirty="0" err="1">
                <a:solidFill>
                  <a:schemeClr val="bg1"/>
                </a:solidFill>
                <a:hlinkClick r:id="rId4"/>
              </a:rPr>
              <a:t>opilot</a:t>
            </a:r>
            <a:endParaRPr lang="es-419" sz="1400" noProof="0" dirty="0">
              <a:solidFill>
                <a:schemeClr val="bg1"/>
              </a:solidFill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D6DECA9-1A9C-FF06-A570-AD81985EBDC3}"/>
              </a:ext>
            </a:extLst>
          </p:cNvPr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• Fundamentos de Ingeniería de Software</a:t>
            </a:r>
            <a:endParaRPr lang="es-419" sz="1000" noProof="0" dirty="0"/>
          </a:p>
        </p:txBody>
      </p:sp>
    </p:spTree>
    <p:extLst>
      <p:ext uri="{BB962C8B-B14F-4D97-AF65-F5344CB8AC3E}">
        <p14:creationId xmlns:p14="http://schemas.microsoft.com/office/powerpoint/2010/main" val="119618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1296</Words>
  <Application>Microsoft Office PowerPoint</Application>
  <PresentationFormat>Presentación en pantalla (16:9)</PresentationFormat>
  <Paragraphs>247</Paragraphs>
  <Slides>17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- Fundamentos de Ingeniería de Software</dc:title>
  <dc:subject>PptxGenJS Presentation</dc:subject>
  <dc:creator>PptxGenJS</dc:creator>
  <cp:lastModifiedBy>lucia sosa viera</cp:lastModifiedBy>
  <cp:revision>4</cp:revision>
  <dcterms:created xsi:type="dcterms:W3CDTF">2026-05-14T00:57:23Z</dcterms:created>
  <dcterms:modified xsi:type="dcterms:W3CDTF">2026-05-14T13:14:36Z</dcterms:modified>
</cp:coreProperties>
</file>