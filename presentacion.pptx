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228600"/>
            <a:ext cx="73152" cy="73152"/>
          </a:xfrm>
          <a:prstGeom prst="ellipse">
            <a:avLst/>
          </a:prstGeom>
          <a:solidFill>
            <a:srgbClr val="58A6FF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0" y="548640"/>
            <a:ext cx="73152" cy="73152"/>
          </a:xfrm>
          <a:prstGeom prst="ellipse">
            <a:avLst/>
          </a:prstGeom>
          <a:solidFill>
            <a:srgbClr val="58A6FF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315200" y="868680"/>
            <a:ext cx="73152" cy="73152"/>
          </a:xfrm>
          <a:prstGeom prst="ellipse">
            <a:avLst/>
          </a:prstGeom>
          <a:solidFill>
            <a:srgbClr val="58A6FF">
              <a:alpha val="4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35240" y="228600"/>
            <a:ext cx="73152" cy="73152"/>
          </a:xfrm>
          <a:prstGeom prst="ellipse">
            <a:avLst/>
          </a:prstGeom>
          <a:solidFill>
            <a:srgbClr val="58A6FF">
              <a:alpha val="4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635240" y="548640"/>
            <a:ext cx="73152" cy="73152"/>
          </a:xfrm>
          <a:prstGeom prst="ellipse">
            <a:avLst/>
          </a:prstGeom>
          <a:solidFill>
            <a:srgbClr val="58A6FF">
              <a:alpha val="4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7635240" y="868680"/>
            <a:ext cx="73152" cy="73152"/>
          </a:xfrm>
          <a:prstGeom prst="ellipse">
            <a:avLst/>
          </a:prstGeom>
          <a:solidFill>
            <a:srgbClr val="58A6FF">
              <a:alpha val="4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7955280" y="228600"/>
            <a:ext cx="73152" cy="73152"/>
          </a:xfrm>
          <a:prstGeom prst="ellipse">
            <a:avLst/>
          </a:prstGeom>
          <a:solidFill>
            <a:srgbClr val="58A6FF">
              <a:alpha val="4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7955280" y="548640"/>
            <a:ext cx="73152" cy="73152"/>
          </a:xfrm>
          <a:prstGeom prst="ellipse">
            <a:avLst/>
          </a:prstGeom>
          <a:solidFill>
            <a:srgbClr val="58A6FF">
              <a:alpha val="4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955280" y="868680"/>
            <a:ext cx="73152" cy="73152"/>
          </a:xfrm>
          <a:prstGeom prst="ellipse">
            <a:avLst/>
          </a:prstGeom>
          <a:solidFill>
            <a:srgbClr val="58A6FF">
              <a:alpha val="4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275320" y="228600"/>
            <a:ext cx="73152" cy="73152"/>
          </a:xfrm>
          <a:prstGeom prst="ellipse">
            <a:avLst/>
          </a:prstGeom>
          <a:solidFill>
            <a:srgbClr val="58A6FF">
              <a:alpha val="4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8275320" y="548640"/>
            <a:ext cx="73152" cy="73152"/>
          </a:xfrm>
          <a:prstGeom prst="ellipse">
            <a:avLst/>
          </a:prstGeom>
          <a:solidFill>
            <a:srgbClr val="58A6FF">
              <a:alpha val="4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275320" y="868680"/>
            <a:ext cx="73152" cy="73152"/>
          </a:xfrm>
          <a:prstGeom prst="ellipse">
            <a:avLst/>
          </a:prstGeom>
          <a:solidFill>
            <a:srgbClr val="58A6FF">
              <a:alpha val="4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595360" y="228600"/>
            <a:ext cx="73152" cy="73152"/>
          </a:xfrm>
          <a:prstGeom prst="ellipse">
            <a:avLst/>
          </a:prstGeom>
          <a:solidFill>
            <a:srgbClr val="58A6FF">
              <a:alpha val="4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595360" y="548640"/>
            <a:ext cx="73152" cy="73152"/>
          </a:xfrm>
          <a:prstGeom prst="ellipse">
            <a:avLst/>
          </a:prstGeom>
          <a:solidFill>
            <a:srgbClr val="58A6FF">
              <a:alpha val="4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595360" y="868680"/>
            <a:ext cx="73152" cy="73152"/>
          </a:xfrm>
          <a:prstGeom prst="ellipse">
            <a:avLst/>
          </a:prstGeom>
          <a:solidFill>
            <a:srgbClr val="58A6FF">
              <a:alpha val="40000"/>
            </a:srgbClr>
          </a:solidFill>
          <a:ln/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31520"/>
            <a:ext cx="1188720" cy="118872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640080" y="201168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</a:t>
            </a:r>
            <a:endParaRPr lang="en-US" sz="4400" dirty="0"/>
          </a:p>
        </p:txBody>
      </p:sp>
      <p:sp>
        <p:nvSpPr>
          <p:cNvPr id="20" name="Text 17"/>
          <p:cNvSpPr/>
          <p:nvPr/>
        </p:nvSpPr>
        <p:spPr>
          <a:xfrm>
            <a:off x="640080" y="28346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Ingeniería de Software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40080" y="33375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Aceleración inteligente sin reemplazar el criterio técnico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40080" y="4023360"/>
            <a:ext cx="7863840" cy="3658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1148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Ingeniería • Fundamentos de Ingeniería de Software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PRINCIPAL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201168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868680"/>
            <a:ext cx="64008" cy="2011680"/>
          </a:xfrm>
          <a:prstGeom prst="rect">
            <a:avLst/>
          </a:prstGeom>
          <a:solidFill>
            <a:srgbClr val="58A6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05156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914400"/>
            <a:ext cx="7040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acelera tareas de programación cuando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contexto está bien dado, pero no elimina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necesidad de criterio técnico.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3108960"/>
            <a:ext cx="2606040" cy="1554480"/>
          </a:xfrm>
          <a:prstGeom prst="rect">
            <a:avLst/>
          </a:prstGeom>
          <a:solidFill>
            <a:srgbClr val="1C2128"/>
          </a:solidFill>
          <a:ln/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4612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43000" y="32186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Acelera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640080" y="37490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de programación repetitivas y de bajo nivel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3291840" y="3108960"/>
            <a:ext cx="2606040" cy="1554480"/>
          </a:xfrm>
          <a:prstGeom prst="rect">
            <a:avLst/>
          </a:prstGeom>
          <a:solidFill>
            <a:srgbClr val="1C2128"/>
          </a:solidFill>
          <a:ln/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324612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977640" y="32186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reemplaza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3474720" y="37490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análisis, diseño y decisiones de arquitectura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126480" y="3108960"/>
            <a:ext cx="2606040" cy="1554480"/>
          </a:xfrm>
          <a:prstGeom prst="rect">
            <a:avLst/>
          </a:prstGeom>
          <a:solidFill>
            <a:srgbClr val="1C2128"/>
          </a:solidFill>
          <a:ln/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24612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12280" y="32186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6309360" y="37490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claro y revisión humana constante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MENTAL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3840480" cy="1005840"/>
          </a:xfrm>
          <a:prstGeom prst="rect">
            <a:avLst/>
          </a:prstGeom>
          <a:solidFill>
            <a:srgbClr val="2D1515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822960"/>
            <a:ext cx="64008" cy="1005840"/>
          </a:xfrm>
          <a:prstGeom prst="rect">
            <a:avLst/>
          </a:prstGeom>
          <a:solidFill>
            <a:srgbClr val="F7816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914400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87552" y="8686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común: creer que Copilot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'entiende programación'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0" y="822960"/>
            <a:ext cx="4160520" cy="1005840"/>
          </a:xfrm>
          <a:prstGeom prst="rect">
            <a:avLst/>
          </a:prstGeom>
          <a:solidFill>
            <a:srgbClr val="0D2137"/>
          </a:solidFill>
          <a:ln/>
        </p:spPr>
      </p:sp>
      <p:sp>
        <p:nvSpPr>
          <p:cNvPr id="9" name="Shape 6"/>
          <p:cNvSpPr/>
          <p:nvPr/>
        </p:nvSpPr>
        <p:spPr>
          <a:xfrm>
            <a:off x="4572000" y="822960"/>
            <a:ext cx="64008" cy="1005840"/>
          </a:xfrm>
          <a:prstGeom prst="rect">
            <a:avLst/>
          </a:prstGeom>
          <a:solidFill>
            <a:srgbClr val="58A6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914400"/>
            <a:ext cx="347472" cy="3474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193792" y="8686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Realidad: es un modelo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predictivo estadístico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365760" y="19659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funciona realmente?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713232" y="2487168"/>
            <a:ext cx="777240" cy="777240"/>
          </a:xfrm>
          <a:prstGeom prst="ellipse">
            <a:avLst/>
          </a:prstGeom>
          <a:solidFill>
            <a:srgbClr val="58A6FF">
              <a:alpha val="80000"/>
            </a:srgbClr>
          </a:solidFill>
          <a:ln/>
        </p:spPr>
      </p:sp>
      <p:sp>
        <p:nvSpPr>
          <p:cNvPr id="14" name="Text 10"/>
          <p:cNvSpPr/>
          <p:nvPr/>
        </p:nvSpPr>
        <p:spPr>
          <a:xfrm>
            <a:off x="713232" y="248716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365760" y="33375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1499616" y="2834640"/>
            <a:ext cx="566928" cy="3658"/>
          </a:xfrm>
          <a:prstGeom prst="rect">
            <a:avLst/>
          </a:prstGeom>
          <a:solidFill>
            <a:srgbClr val="8B949E"/>
          </a:solidFill>
          <a:ln/>
        </p:spPr>
      </p:sp>
      <p:sp>
        <p:nvSpPr>
          <p:cNvPr id="17" name="Shape 13"/>
          <p:cNvSpPr/>
          <p:nvPr/>
        </p:nvSpPr>
        <p:spPr>
          <a:xfrm>
            <a:off x="2423160" y="2487168"/>
            <a:ext cx="777240" cy="777240"/>
          </a:xfrm>
          <a:prstGeom prst="ellipse">
            <a:avLst/>
          </a:prstGeom>
          <a:solidFill>
            <a:srgbClr val="BC8CFF">
              <a:alpha val="80000"/>
            </a:srgbClr>
          </a:solidFill>
          <a:ln/>
        </p:spPr>
      </p:sp>
      <p:sp>
        <p:nvSpPr>
          <p:cNvPr id="18" name="Text 14"/>
          <p:cNvSpPr/>
          <p:nvPr/>
        </p:nvSpPr>
        <p:spPr>
          <a:xfrm>
            <a:off x="2423160" y="248716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2075688" y="33375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toma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3209544" y="2834640"/>
            <a:ext cx="566928" cy="3658"/>
          </a:xfrm>
          <a:prstGeom prst="rect">
            <a:avLst/>
          </a:prstGeom>
          <a:solidFill>
            <a:srgbClr val="8B949E"/>
          </a:solidFill>
          <a:ln/>
        </p:spPr>
      </p:sp>
      <p:sp>
        <p:nvSpPr>
          <p:cNvPr id="21" name="Shape 17"/>
          <p:cNvSpPr/>
          <p:nvPr/>
        </p:nvSpPr>
        <p:spPr>
          <a:xfrm>
            <a:off x="4133088" y="2487168"/>
            <a:ext cx="777240" cy="777240"/>
          </a:xfrm>
          <a:prstGeom prst="ellipse">
            <a:avLst/>
          </a:prstGeom>
          <a:solidFill>
            <a:srgbClr val="E3B341">
              <a:alpha val="80000"/>
            </a:srgbClr>
          </a:solidFill>
          <a:ln/>
        </p:spPr>
      </p:sp>
      <p:sp>
        <p:nvSpPr>
          <p:cNvPr id="22" name="Text 18"/>
          <p:cNvSpPr/>
          <p:nvPr/>
        </p:nvSpPr>
        <p:spPr>
          <a:xfrm>
            <a:off x="4133088" y="248716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3785616" y="33375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Envía al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LLM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4919472" y="2834640"/>
            <a:ext cx="566928" cy="3658"/>
          </a:xfrm>
          <a:prstGeom prst="rect">
            <a:avLst/>
          </a:prstGeom>
          <a:solidFill>
            <a:srgbClr val="8B949E"/>
          </a:solidFill>
          <a:ln/>
        </p:spPr>
      </p:sp>
      <p:sp>
        <p:nvSpPr>
          <p:cNvPr id="25" name="Shape 21"/>
          <p:cNvSpPr/>
          <p:nvPr/>
        </p:nvSpPr>
        <p:spPr>
          <a:xfrm>
            <a:off x="5843016" y="2487168"/>
            <a:ext cx="777240" cy="777240"/>
          </a:xfrm>
          <a:prstGeom prst="ellipse">
            <a:avLst/>
          </a:prstGeom>
          <a:solidFill>
            <a:srgbClr val="F78166">
              <a:alpha val="80000"/>
            </a:srgbClr>
          </a:solidFill>
          <a:ln/>
        </p:spPr>
      </p:sp>
      <p:sp>
        <p:nvSpPr>
          <p:cNvPr id="26" name="Text 22"/>
          <p:cNvSpPr/>
          <p:nvPr/>
        </p:nvSpPr>
        <p:spPr>
          <a:xfrm>
            <a:off x="5843016" y="248716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5495544" y="33375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probabilidades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6629400" y="2834640"/>
            <a:ext cx="566928" cy="3658"/>
          </a:xfrm>
          <a:prstGeom prst="rect">
            <a:avLst/>
          </a:prstGeom>
          <a:solidFill>
            <a:srgbClr val="8B949E"/>
          </a:solidFill>
          <a:ln/>
        </p:spPr>
      </p:sp>
      <p:sp>
        <p:nvSpPr>
          <p:cNvPr id="29" name="Shape 25"/>
          <p:cNvSpPr/>
          <p:nvPr/>
        </p:nvSpPr>
        <p:spPr>
          <a:xfrm>
            <a:off x="7552944" y="2487168"/>
            <a:ext cx="777240" cy="777240"/>
          </a:xfrm>
          <a:prstGeom prst="ellipse">
            <a:avLst/>
          </a:prstGeom>
          <a:solidFill>
            <a:srgbClr val="3FB950">
              <a:alpha val="80000"/>
            </a:srgbClr>
          </a:solidFill>
          <a:ln/>
        </p:spPr>
      </p:sp>
      <p:sp>
        <p:nvSpPr>
          <p:cNvPr id="30" name="Text 26"/>
          <p:cNvSpPr/>
          <p:nvPr/>
        </p:nvSpPr>
        <p:spPr>
          <a:xfrm>
            <a:off x="7552944" y="248716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7"/>
          <p:cNvSpPr/>
          <p:nvPr/>
        </p:nvSpPr>
        <p:spPr>
          <a:xfrm>
            <a:off x="7205472" y="33375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sugerencia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365760" y="4160520"/>
            <a:ext cx="8412480" cy="6400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3" name="Shape 29"/>
          <p:cNvSpPr/>
          <p:nvPr/>
        </p:nvSpPr>
        <p:spPr>
          <a:xfrm>
            <a:off x="365760" y="4160520"/>
            <a:ext cx="64008" cy="640080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34" name="Text 30"/>
          <p:cNvSpPr/>
          <p:nvPr/>
        </p:nvSpPr>
        <p:spPr>
          <a:xfrm>
            <a:off x="548640" y="422452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La IA no sabe si el código es correcto. Solo sabe qué es estadísticamente probable.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4114800" cy="1207008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868680"/>
            <a:ext cx="64008" cy="1207008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9784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incorrecto aceptado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30352" y="1325880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puede generar código que compila pero que tiene lógica errónea o comportamientos inesperados.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868680"/>
            <a:ext cx="4114800" cy="1207008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868680"/>
            <a:ext cx="64008" cy="1207008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10" name="Text 8"/>
          <p:cNvSpPr/>
          <p:nvPr/>
        </p:nvSpPr>
        <p:spPr>
          <a:xfrm>
            <a:off x="4919472" y="9784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Vulnerabilidades de seguridad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19472" y="1325880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 inseguros del código de entrenamiento pueden replicarse en las sugerencias generadas.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221992"/>
            <a:ext cx="4114800" cy="1207008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221992"/>
            <a:ext cx="64008" cy="1207008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331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Exceso de confianza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30352" y="2679192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desarrollador reduce su análisis crítico delegando el razonamiento al modelo.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2221992"/>
            <a:ext cx="4114800" cy="1207008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2221992"/>
            <a:ext cx="64008" cy="1207008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18" name="Text 16"/>
          <p:cNvSpPr/>
          <p:nvPr/>
        </p:nvSpPr>
        <p:spPr>
          <a:xfrm>
            <a:off x="4919472" y="2331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Fuga de información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19472" y="2679192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contexto enviado al modelo puede incluir datos sensibles o propietarios del proyecto.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3575304"/>
            <a:ext cx="4114800" cy="1207008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575304"/>
            <a:ext cx="64008" cy="1207008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68503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Deuda técnica oculta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0352" y="4032504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generado sin comprensión del diseño puede deteriorar la arquitectura del sistema.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3575304"/>
            <a:ext cx="4114800" cy="1207008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3575304"/>
            <a:ext cx="64008" cy="1207008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26" name="Text 24"/>
          <p:cNvSpPr/>
          <p:nvPr/>
        </p:nvSpPr>
        <p:spPr>
          <a:xfrm>
            <a:off x="4919472" y="368503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Dependencia del asistente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919472" y="4032504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de la capacidad de pensar y resolver problemas de forma autónoma.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PLATAFORMA COPILOT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autocompletado a suite completa para el ciclo de vida del software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2011680" cy="352044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1325880"/>
            <a:ext cx="777240" cy="256032"/>
          </a:xfrm>
          <a:prstGeom prst="rect">
            <a:avLst/>
          </a:prstGeom>
          <a:solidFill>
            <a:srgbClr val="58A6FF">
              <a:alpha val="2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32588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691640"/>
            <a:ext cx="640080" cy="6400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24231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Completion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11480" y="2834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suggestions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" y="324612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Sugiere líneas o bloques de código enteros en tiempo real mientras escribes en el editor.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487168" y="1234440"/>
            <a:ext cx="2011680" cy="352044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578608" y="1325880"/>
            <a:ext cx="777240" cy="256032"/>
          </a:xfrm>
          <a:prstGeom prst="rect">
            <a:avLst/>
          </a:prstGeom>
          <a:solidFill>
            <a:srgbClr val="BC8CFF">
              <a:alpha val="20000"/>
            </a:srgbClr>
          </a:solidFill>
          <a:ln/>
        </p:spPr>
      </p:sp>
      <p:sp>
        <p:nvSpPr>
          <p:cNvPr id="14" name="Text 11"/>
          <p:cNvSpPr/>
          <p:nvPr/>
        </p:nvSpPr>
        <p:spPr>
          <a:xfrm>
            <a:off x="2578608" y="132588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</a:t>
            </a:r>
            <a:endParaRPr lang="en-US" sz="9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69164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578608" y="24231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Chat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2578608" y="2834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conversacional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2624328" y="324612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estilo IA con contexto enriquecido. Mismos riesgos que cualquier chatbot, con control total del código.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4654296" y="1234440"/>
            <a:ext cx="2011680" cy="352044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745736" y="1325880"/>
            <a:ext cx="777240" cy="256032"/>
          </a:xfrm>
          <a:prstGeom prst="rect">
            <a:avLst/>
          </a:prstGeom>
          <a:solidFill>
            <a:srgbClr val="E3B341">
              <a:alpha val="20000"/>
            </a:srgbClr>
          </a:solidFill>
          <a:ln/>
        </p:spPr>
      </p:sp>
      <p:sp>
        <p:nvSpPr>
          <p:cNvPr id="21" name="Text 17"/>
          <p:cNvSpPr/>
          <p:nvPr/>
        </p:nvSpPr>
        <p:spPr>
          <a:xfrm>
            <a:off x="4745736" y="132588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90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1808" y="1691640"/>
            <a:ext cx="640080" cy="64008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745736" y="24231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Agente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4745736" y="2834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agente en editor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4791456" y="324612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 el repo completo, edita múltiples archivos, ejecuta comandos en terminal y auto-repara errores.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821424" y="1234440"/>
            <a:ext cx="2011680" cy="352044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6912864" y="1325880"/>
            <a:ext cx="777240" cy="256032"/>
          </a:xfrm>
          <a:prstGeom prst="rect">
            <a:avLst/>
          </a:prstGeom>
          <a:solidFill>
            <a:srgbClr val="F78166">
              <a:alpha val="20000"/>
            </a:srgbClr>
          </a:solidFill>
          <a:ln/>
        </p:spPr>
      </p:sp>
      <p:sp>
        <p:nvSpPr>
          <p:cNvPr id="28" name="Text 23"/>
          <p:cNvSpPr/>
          <p:nvPr/>
        </p:nvSpPr>
        <p:spPr>
          <a:xfrm>
            <a:off x="6912864" y="132588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Pro+</a:t>
            </a:r>
            <a:endParaRPr lang="en-US" sz="90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8936" y="1691640"/>
            <a:ext cx="640080" cy="640080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6912864" y="24231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Coding Agent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6912864" y="2834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GitHub Issues</a:t>
            </a:r>
            <a:endParaRPr lang="en-US" sz="1000" dirty="0"/>
          </a:p>
        </p:txBody>
      </p:sp>
      <p:sp>
        <p:nvSpPr>
          <p:cNvPr id="32" name="Text 26"/>
          <p:cNvSpPr/>
          <p:nvPr/>
        </p:nvSpPr>
        <p:spPr>
          <a:xfrm>
            <a:off x="6958584" y="324612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entorno en la nube, escribe solución, ejecuta tests y entrega un Pull Request listo para revisión.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320040" y="4828032"/>
            <a:ext cx="8458200" cy="45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34" name="Text 28"/>
          <p:cNvSpPr/>
          <p:nvPr/>
        </p:nvSpPr>
        <p:spPr>
          <a:xfrm>
            <a:off x="320040" y="4846320"/>
            <a:ext cx="8458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MCP (Model Context Protocol): integración con herramientas externas — Jira, Notion, Terminal y más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EFECTIVO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importancia de un buen prompt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256032" cy="256032"/>
          </a:xfrm>
          <a:prstGeom prst="ellipse">
            <a:avLst/>
          </a:prstGeom>
          <a:solidFill>
            <a:srgbClr val="E3B341">
              <a:alpha val="8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280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13232" y="12801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 específico: incluye el lenguaje, framework y objetivo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901952"/>
            <a:ext cx="256032" cy="256032"/>
          </a:xfrm>
          <a:prstGeom prst="ellipse">
            <a:avLst/>
          </a:prstGeom>
          <a:solidFill>
            <a:srgbClr val="E3B341">
              <a:alpha val="8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1901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13232" y="190195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contexto suficiente antes de pedir código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523744"/>
            <a:ext cx="256032" cy="256032"/>
          </a:xfrm>
          <a:prstGeom prst="ellipse">
            <a:avLst/>
          </a:prstGeom>
          <a:solidFill>
            <a:srgbClr val="E3B341">
              <a:alpha val="8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2523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13232" y="252374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qué querés que haga, no cómo hacerlo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3145536"/>
            <a:ext cx="256032" cy="256032"/>
          </a:xfrm>
          <a:prstGeom prst="ellipse">
            <a:avLst/>
          </a:prstGeom>
          <a:solidFill>
            <a:srgbClr val="E3B341">
              <a:alpha val="8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31455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13232" y="314553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restricciones y casos borde relevantes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767328"/>
            <a:ext cx="256032" cy="256032"/>
          </a:xfrm>
          <a:prstGeom prst="ellipse">
            <a:avLst/>
          </a:prstGeom>
          <a:solidFill>
            <a:srgbClr val="E3B341">
              <a:alpha val="8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3767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3232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Iterá: el primer resultado es un borrador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0" y="777240"/>
            <a:ext cx="3749040" cy="406908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029200" y="777240"/>
            <a:ext cx="3749040" cy="384048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0" y="7772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● ● ●   ejemplo-prompt.txt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166360" y="128016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❌ Prompt vago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"Hacé una función para usuarios"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166360" y="2103120"/>
            <a:ext cx="3474720" cy="3658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25" name="Text 23"/>
          <p:cNvSpPr/>
          <p:nvPr/>
        </p:nvSpPr>
        <p:spPr>
          <a:xfrm>
            <a:off x="5166360" y="2176272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✅ Prompt específico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/**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* Crea una función TypeScript que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* valide un email, devuelva true/false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* y maneje el caso de string vacío.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* No usar regex externas.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*/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04672"/>
            <a:ext cx="64008" cy="65836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6" name="Text 4"/>
          <p:cNvSpPr/>
          <p:nvPr/>
        </p:nvSpPr>
        <p:spPr>
          <a:xfrm>
            <a:off x="484632" y="804672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78408" y="804672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 buen contexto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804672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804672"/>
            <a:ext cx="64008" cy="65836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0" name="Text 8"/>
          <p:cNvSpPr/>
          <p:nvPr/>
        </p:nvSpPr>
        <p:spPr>
          <a:xfrm>
            <a:off x="4919472" y="804672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13248" y="804672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Tratar la respuesta como propuesta, no como solución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1609344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1609344"/>
            <a:ext cx="64008" cy="658368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" y="1609344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78408" y="1609344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antes de aceptar cualquier sugerencia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1609344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1609344"/>
            <a:ext cx="64008" cy="658368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8" name="Text 16"/>
          <p:cNvSpPr/>
          <p:nvPr/>
        </p:nvSpPr>
        <p:spPr>
          <a:xfrm>
            <a:off x="4919472" y="1609344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413248" y="1609344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prompts específicos y detallados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2414016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" y="2414016"/>
            <a:ext cx="64008" cy="658368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" y="2414016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78408" y="2414016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explicaciones del código generado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54880" y="2414016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2414016"/>
            <a:ext cx="64008" cy="658368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26" name="Text 24"/>
          <p:cNvSpPr/>
          <p:nvPr/>
        </p:nvSpPr>
        <p:spPr>
          <a:xfrm>
            <a:off x="4919472" y="2414016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413248" y="2414016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Usarlo para tareas repetitivas, no para diseño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20040" y="3218688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20040" y="3218688"/>
            <a:ext cx="64008" cy="658368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30" name="Text 28"/>
          <p:cNvSpPr/>
          <p:nvPr/>
        </p:nvSpPr>
        <p:spPr>
          <a:xfrm>
            <a:off x="484632" y="321868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78408" y="321868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la seguridad del código generado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54880" y="3218688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754880" y="3218688"/>
            <a:ext cx="64008" cy="658368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34" name="Text 32"/>
          <p:cNvSpPr/>
          <p:nvPr/>
        </p:nvSpPr>
        <p:spPr>
          <a:xfrm>
            <a:off x="4919472" y="321868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5413248" y="321868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compartir información sensible ni propietaria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20040" y="4023360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20040" y="4023360"/>
            <a:ext cx="64008" cy="658368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38" name="Text 36"/>
          <p:cNvSpPr/>
          <p:nvPr/>
        </p:nvSpPr>
        <p:spPr>
          <a:xfrm>
            <a:off x="484632" y="4023360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978408" y="402336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Mantener la arquitectura clara y documentada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754880" y="4023360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754880" y="4023360"/>
            <a:ext cx="64008" cy="658368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42" name="Text 40"/>
          <p:cNvSpPr/>
          <p:nvPr/>
        </p:nvSpPr>
        <p:spPr>
          <a:xfrm>
            <a:off x="4919472" y="4023360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5413248" y="402336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la IA para acelerar, no para pensar menos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59436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9436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23444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23444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23444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23444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55448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55448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55448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5448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7452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87452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87452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87452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9079992" y="0"/>
            <a:ext cx="64008" cy="5143500"/>
          </a:xfrm>
          <a:prstGeom prst="rect">
            <a:avLst/>
          </a:prstGeom>
          <a:solidFill>
            <a:srgbClr val="58A6FF"/>
          </a:solidFill>
          <a:ln/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0" y="548640"/>
            <a:ext cx="1554480" cy="155448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914400" y="2286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resumen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457200" y="27889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es una herramienta,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 reemplazo.</a:t>
            </a:r>
            <a:endParaRPr lang="en-US" sz="3600" dirty="0"/>
          </a:p>
        </p:txBody>
      </p:sp>
      <p:sp>
        <p:nvSpPr>
          <p:cNvPr id="30" name="Shape 27"/>
          <p:cNvSpPr/>
          <p:nvPr/>
        </p:nvSpPr>
        <p:spPr>
          <a:xfrm>
            <a:off x="2743200" y="3913632"/>
            <a:ext cx="3657600" cy="365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1" name="Text 28"/>
          <p:cNvSpPr/>
          <p:nvPr/>
        </p:nvSpPr>
        <p:spPr>
          <a:xfrm>
            <a:off x="914400" y="40050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criterio técnico sigue siendo humano.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914400" y="45262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Ingeniería • Fundamentos de Ingeniería de Software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Copilot - Fundamentos de Ingeniería de Software</dc:title>
  <dc:subject>PptxGenJS Presentation</dc:subject>
  <dc:creator>PptxGenJS</dc:creator>
  <cp:lastModifiedBy>PptxGenJS</cp:lastModifiedBy>
  <cp:revision>1</cp:revision>
  <dcterms:created xsi:type="dcterms:W3CDTF">2026-05-14T00:57:23Z</dcterms:created>
  <dcterms:modified xsi:type="dcterms:W3CDTF">2026-05-14T00:57:23Z</dcterms:modified>
</cp:coreProperties>
</file>